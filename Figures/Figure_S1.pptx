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7" r:id="rId2"/>
    <p:sldId id="258" r:id="rId3"/>
  </p:sldIdLst>
  <p:sldSz cx="15840075" cy="158400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9FD96E-D23E-4AB1-8E01-AB77082F8B67}" v="14" dt="2024-11-09T00:53:18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6101" autoAdjust="0"/>
  </p:normalViewPr>
  <p:slideViewPr>
    <p:cSldViewPr snapToGrid="0">
      <p:cViewPr>
        <p:scale>
          <a:sx n="73" d="100"/>
          <a:sy n="73" d="100"/>
        </p:scale>
        <p:origin x="13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885950" y="1143000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/>
              <a:t>Please cite as: Haddaway NR, Macura B, Whaley P, and Pullin AS. 2017. ROSES flow diagram for systematic reviews. Version 1.0. DOI: 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10.6084/m9.figshare.5897389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7" name="Google Shape;8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814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2C4B2F7-2133-870B-5F11-F9C32732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>
            <a:extLst>
              <a:ext uri="{FF2B5EF4-FFF2-40B4-BE49-F238E27FC236}">
                <a16:creationId xmlns:a16="http://schemas.microsoft.com/office/drawing/2014/main" id="{81E60AF5-27BF-AF4D-351E-B9AE36324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3:notes">
            <a:extLst>
              <a:ext uri="{FF2B5EF4-FFF2-40B4-BE49-F238E27FC236}">
                <a16:creationId xmlns:a16="http://schemas.microsoft.com/office/drawing/2014/main" id="{5DB83BED-190C-D7A2-C910-64F2055A9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/>
              <a:t>Please cite as: Haddaway NR, Macura B, Whaley P, and Pullin AS. 2017. ROSES flow diagram for systematic reviews. Version 1.0. DOI: 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10.6084/m9.figshare.5897389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7" name="Google Shape;87;p3:notes">
            <a:extLst>
              <a:ext uri="{FF2B5EF4-FFF2-40B4-BE49-F238E27FC236}">
                <a16:creationId xmlns:a16="http://schemas.microsoft.com/office/drawing/2014/main" id="{A357819F-F06B-A192-7BF9-E52F66F41E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0117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88006" y="2592352"/>
            <a:ext cx="13464064" cy="551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95"/>
              <a:buFont typeface="Calibri"/>
              <a:buNone/>
              <a:defRPr sz="779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980010" y="8319707"/>
            <a:ext cx="11880056" cy="38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089006" y="843341"/>
            <a:ext cx="13662064" cy="306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1089006" y="4216687"/>
            <a:ext cx="13662064" cy="1005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459473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42652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1080756" y="3949023"/>
            <a:ext cx="13662064" cy="658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95"/>
              <a:buFont typeface="Calibri"/>
              <a:buNone/>
              <a:defRPr sz="779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1080756" y="10600393"/>
            <a:ext cx="13662064" cy="3465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228562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598"/>
              <a:buFont typeface="Arial"/>
              <a:buNone/>
              <a:defRPr sz="259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338"/>
              <a:buFont typeface="Arial"/>
              <a:buNone/>
              <a:defRPr sz="233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rgbClr val="888888"/>
              </a:buClr>
              <a:buSzPts val="2079"/>
              <a:buFont typeface="Arial"/>
              <a:buNone/>
              <a:defRPr sz="20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089006" y="843341"/>
            <a:ext cx="13662064" cy="306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1089005" y="4216687"/>
            <a:ext cx="6732032" cy="1005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459473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42652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8019040" y="4216687"/>
            <a:ext cx="6732032" cy="1005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459473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42652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091069" y="843341"/>
            <a:ext cx="13662064" cy="306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1091070" y="3883019"/>
            <a:ext cx="6701093" cy="190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124" marR="0" lvl="0" indent="-228562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7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1091070" y="5786032"/>
            <a:ext cx="6701093" cy="851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459473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42652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8019039" y="3883019"/>
            <a:ext cx="6734095" cy="190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124" marR="0" lvl="0" indent="-228562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None/>
              <a:defRPr sz="2337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8019039" y="5786032"/>
            <a:ext cx="6734095" cy="851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459473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42652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1089006" y="843341"/>
            <a:ext cx="13662064" cy="306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091069" y="1056005"/>
            <a:ext cx="5108837" cy="3696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7"/>
              <a:buFont typeface="Calibri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734097" y="2280681"/>
            <a:ext cx="8019038" cy="1125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492487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4157"/>
              <a:buFont typeface="Arial"/>
              <a:buChar char="•"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45947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42652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393507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393507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393507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1091069" y="4752022"/>
            <a:ext cx="5108837" cy="880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228562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sz="18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559"/>
              <a:buFont typeface="Arial"/>
              <a:buNone/>
              <a:defRPr sz="15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091069" y="1056005"/>
            <a:ext cx="5108837" cy="3696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57"/>
              <a:buFont typeface="Calibri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6734097" y="2280681"/>
            <a:ext cx="8019038" cy="1125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4157"/>
              <a:buFont typeface="Arial"/>
              <a:buNone/>
              <a:defRPr sz="415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None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None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091069" y="4752022"/>
            <a:ext cx="5108837" cy="880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228562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None/>
              <a:defRPr sz="20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19"/>
              <a:buFont typeface="Arial"/>
              <a:buNone/>
              <a:defRPr sz="18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559"/>
              <a:buFont typeface="Arial"/>
              <a:buNone/>
              <a:defRPr sz="15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22856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  <a:defRPr sz="12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1089006" y="843341"/>
            <a:ext cx="13662064" cy="306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894847" y="2410846"/>
            <a:ext cx="10050382" cy="1366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459473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42652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6331451" y="5847445"/>
            <a:ext cx="13423731" cy="341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-598583" y="2530935"/>
            <a:ext cx="13423731" cy="10048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24" marR="0" lvl="0" indent="-459473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248" marR="0" lvl="1" indent="-426521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371" marR="0" lvl="2" indent="-393506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495" marR="0" lvl="3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619" marR="0" lvl="4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2743" marR="0" lvl="5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99866" marR="0" lvl="6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6990" marR="0" lvl="7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114" marR="0" lvl="8" indent="-377000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89006" y="843341"/>
            <a:ext cx="13662064" cy="306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16"/>
              <a:buFont typeface="Calibri"/>
              <a:buNone/>
              <a:defRPr sz="57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89006" y="4216687"/>
            <a:ext cx="13662064" cy="1005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9549" algn="l" rtl="0">
              <a:lnSpc>
                <a:spcPct val="90000"/>
              </a:lnSpc>
              <a:spcBef>
                <a:spcPts val="1299"/>
              </a:spcBef>
              <a:spcAft>
                <a:spcPts val="0"/>
              </a:spcAft>
              <a:buClr>
                <a:schemeClr val="dk1"/>
              </a:buClr>
              <a:buSzPts val="3637"/>
              <a:buFont typeface="Arial"/>
              <a:buChar char="•"/>
              <a:defRPr sz="36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2659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Char char="•"/>
              <a:defRPr sz="311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3572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598"/>
              <a:buFont typeface="Arial"/>
              <a:buChar char="•"/>
              <a:defRPr sz="25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063" algn="l" rtl="0">
              <a:lnSpc>
                <a:spcPct val="9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sz="233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089006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247028" y="14681411"/>
            <a:ext cx="5346025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187053" y="14681411"/>
            <a:ext cx="3564017" cy="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3"/>
          <p:cNvCxnSpPr>
            <a:cxnSpLocks/>
          </p:cNvCxnSpPr>
          <p:nvPr/>
        </p:nvCxnSpPr>
        <p:spPr>
          <a:xfrm>
            <a:off x="19666" y="9888093"/>
            <a:ext cx="15532164" cy="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0" name="Google Shape;90;p13"/>
          <p:cNvSpPr/>
          <p:nvPr/>
        </p:nvSpPr>
        <p:spPr>
          <a:xfrm>
            <a:off x="954812" y="3414211"/>
            <a:ext cx="14429803" cy="633890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68D19FF-9D15-EAFB-39D9-AFFD05171E4C}"/>
              </a:ext>
            </a:extLst>
          </p:cNvPr>
          <p:cNvGrpSpPr/>
          <p:nvPr/>
        </p:nvGrpSpPr>
        <p:grpSpPr>
          <a:xfrm>
            <a:off x="126935" y="687807"/>
            <a:ext cx="573952" cy="2555123"/>
            <a:chOff x="-134321" y="687807"/>
            <a:chExt cx="573952" cy="2555123"/>
          </a:xfrm>
        </p:grpSpPr>
        <p:sp>
          <p:nvSpPr>
            <p:cNvPr id="91" name="Google Shape;91;p13"/>
            <p:cNvSpPr/>
            <p:nvPr/>
          </p:nvSpPr>
          <p:spPr>
            <a:xfrm>
              <a:off x="-134321" y="687807"/>
              <a:ext cx="573952" cy="255512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 rot="-5400000">
              <a:off x="-1031162" y="1640673"/>
              <a:ext cx="2367626" cy="517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Literature search</a:t>
              </a:r>
              <a:endParaRPr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3"/>
          <p:cNvSpPr/>
          <p:nvPr/>
        </p:nvSpPr>
        <p:spPr>
          <a:xfrm>
            <a:off x="116685" y="3381941"/>
            <a:ext cx="573952" cy="64069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7" name="Google Shape;97;p13"/>
          <p:cNvSpPr txBox="1"/>
          <p:nvPr/>
        </p:nvSpPr>
        <p:spPr>
          <a:xfrm rot="-5400000">
            <a:off x="-884057" y="6522296"/>
            <a:ext cx="2575436" cy="5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Screening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100570" y="6490185"/>
            <a:ext cx="2088000" cy="115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review after full-text screening</a:t>
            </a:r>
          </a:p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26)</a:t>
            </a:r>
          </a:p>
        </p:txBody>
      </p:sp>
      <p:sp>
        <p:nvSpPr>
          <p:cNvPr id="106" name="Google Shape;106;p13"/>
          <p:cNvSpPr/>
          <p:nvPr/>
        </p:nvSpPr>
        <p:spPr>
          <a:xfrm>
            <a:off x="10188495" y="8439025"/>
            <a:ext cx="2975365" cy="2619499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Excluded after full-text screening (n = 2,023)</a:t>
            </a:r>
            <a:endParaRPr sz="1800" b="1" dirty="0"/>
          </a:p>
          <a:p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Excluded on different: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 (n = 49)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Intervention a (n = 1,200)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Comparator (n = 35)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 (n = 565)</a:t>
            </a:r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(n = 43)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 peer reviewed (n= 168)</a:t>
            </a:r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in English (n= 6)</a:t>
            </a:r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Retracted article (n= 1)</a:t>
            </a:r>
            <a:endParaRPr dirty="0"/>
          </a:p>
        </p:txBody>
      </p:sp>
      <p:sp>
        <p:nvSpPr>
          <p:cNvPr id="107" name="Google Shape;107;p13"/>
          <p:cNvSpPr/>
          <p:nvPr/>
        </p:nvSpPr>
        <p:spPr>
          <a:xfrm>
            <a:off x="8764426" y="11524199"/>
            <a:ext cx="3784310" cy="1725063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| Effect sizes included in meta-analysis using Log-Odds Ratio (log-OR) as effect size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151| n= 1,709)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154957" y="10023069"/>
            <a:ext cx="573952" cy="364980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1" name="Google Shape;111;p13"/>
          <p:cNvSpPr txBox="1"/>
          <p:nvPr/>
        </p:nvSpPr>
        <p:spPr>
          <a:xfrm rot="-5400000">
            <a:off x="-1354957" y="11588992"/>
            <a:ext cx="3593772" cy="5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Meta-analysis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3081432" y="11524200"/>
            <a:ext cx="3784310" cy="17250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| Effect sizes included in the meta-analysis using Partial correlation (</a:t>
            </a:r>
            <a:r>
              <a:rPr lang="en-GB" sz="18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GB" sz="12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effect size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154 | n = 2,106)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641EFD-9675-8DC5-0FFB-4C9557E2513F}"/>
              </a:ext>
            </a:extLst>
          </p:cNvPr>
          <p:cNvGrpSpPr/>
          <p:nvPr/>
        </p:nvGrpSpPr>
        <p:grpSpPr>
          <a:xfrm>
            <a:off x="995224" y="687807"/>
            <a:ext cx="3451398" cy="5368103"/>
            <a:chOff x="995224" y="687807"/>
            <a:chExt cx="3451398" cy="5368103"/>
          </a:xfrm>
        </p:grpSpPr>
        <p:sp>
          <p:nvSpPr>
            <p:cNvPr id="93" name="Google Shape;93;p13"/>
            <p:cNvSpPr/>
            <p:nvPr/>
          </p:nvSpPr>
          <p:spPr>
            <a:xfrm>
              <a:off x="995224" y="687807"/>
              <a:ext cx="2304000" cy="118800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Search date: 20/12/2022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Scopus </a:t>
              </a:r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2,940)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Web of Science (n = 3,011)</a:t>
              </a: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1213593" y="2206262"/>
              <a:ext cx="1872000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Unique records</a:t>
              </a:r>
              <a:endParaRPr lang="en-GB"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3,600)</a:t>
              </a: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1211976" y="3523316"/>
              <a:ext cx="1872000" cy="113649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Records after title/abstract screening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382)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1209431" y="5113800"/>
              <a:ext cx="1872001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Studies screened at full text</a:t>
              </a:r>
              <a:endParaRPr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382)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" name="Google Shape;119;p13"/>
            <p:cNvCxnSpPr>
              <a:cxnSpLocks/>
              <a:stCxn id="95" idx="2"/>
              <a:endCxn id="98" idx="0"/>
            </p:cNvCxnSpPr>
            <p:nvPr/>
          </p:nvCxnSpPr>
          <p:spPr>
            <a:xfrm flipH="1">
              <a:off x="2147976" y="3148372"/>
              <a:ext cx="1617" cy="37494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0" name="Google Shape;120;p13"/>
            <p:cNvCxnSpPr>
              <a:cxnSpLocks/>
              <a:stCxn id="98" idx="2"/>
              <a:endCxn id="100" idx="0"/>
            </p:cNvCxnSpPr>
            <p:nvPr/>
          </p:nvCxnSpPr>
          <p:spPr>
            <a:xfrm flipH="1">
              <a:off x="2145432" y="4659806"/>
              <a:ext cx="2544" cy="45399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" name="Google Shape;95;p13">
              <a:extLst>
                <a:ext uri="{FF2B5EF4-FFF2-40B4-BE49-F238E27FC236}">
                  <a16:creationId xmlns:a16="http://schemas.microsoft.com/office/drawing/2014/main" id="{3B8EE11C-94EB-924A-0648-D0B42281AF66}"/>
                </a:ext>
              </a:extLst>
            </p:cNvPr>
            <p:cNvSpPr/>
            <p:nvPr/>
          </p:nvSpPr>
          <p:spPr>
            <a:xfrm>
              <a:off x="3474622" y="794519"/>
              <a:ext cx="972000" cy="97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Removed:  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Duplicated records   (n = 2,351)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16070C0-5792-A556-D124-E60FF589CF88}"/>
                </a:ext>
              </a:extLst>
            </p:cNvPr>
            <p:cNvCxnSpPr>
              <a:cxnSpLocks/>
              <a:stCxn id="93" idx="3"/>
              <a:endCxn id="22" idx="1"/>
            </p:cNvCxnSpPr>
            <p:nvPr/>
          </p:nvCxnSpPr>
          <p:spPr>
            <a:xfrm flipV="1">
              <a:off x="3299224" y="1280519"/>
              <a:ext cx="175398" cy="1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Google Shape;95;p13">
              <a:extLst>
                <a:ext uri="{FF2B5EF4-FFF2-40B4-BE49-F238E27FC236}">
                  <a16:creationId xmlns:a16="http://schemas.microsoft.com/office/drawing/2014/main" id="{CA55B664-F548-D6B4-2D9F-E546910CF2F7}"/>
                </a:ext>
              </a:extLst>
            </p:cNvPr>
            <p:cNvSpPr/>
            <p:nvPr/>
          </p:nvSpPr>
          <p:spPr>
            <a:xfrm>
              <a:off x="3360289" y="3691822"/>
              <a:ext cx="972000" cy="79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Excluded abstracts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(n = 3,218)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2DEBFCA-5F41-760F-D515-2206FB7CE128}"/>
                </a:ext>
              </a:extLst>
            </p:cNvPr>
            <p:cNvCxnSpPr>
              <a:cxnSpLocks/>
              <a:stCxn id="98" idx="3"/>
              <a:endCxn id="38" idx="1"/>
            </p:cNvCxnSpPr>
            <p:nvPr/>
          </p:nvCxnSpPr>
          <p:spPr>
            <a:xfrm flipV="1">
              <a:off x="3083976" y="4087822"/>
              <a:ext cx="276313" cy="37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BF53928-2E9F-EA74-9BBC-FD72F8BE7E06}"/>
              </a:ext>
            </a:extLst>
          </p:cNvPr>
          <p:cNvGrpSpPr/>
          <p:nvPr/>
        </p:nvGrpSpPr>
        <p:grpSpPr>
          <a:xfrm>
            <a:off x="8182649" y="641842"/>
            <a:ext cx="3493529" cy="5376111"/>
            <a:chOff x="5898035" y="660529"/>
            <a:chExt cx="3493529" cy="5376111"/>
          </a:xfrm>
        </p:grpSpPr>
        <p:sp>
          <p:nvSpPr>
            <p:cNvPr id="56" name="Google Shape;93;p13">
              <a:extLst>
                <a:ext uri="{FF2B5EF4-FFF2-40B4-BE49-F238E27FC236}">
                  <a16:creationId xmlns:a16="http://schemas.microsoft.com/office/drawing/2014/main" id="{5578C1CB-EB09-5A92-73E6-F1D184AF42F1}"/>
                </a:ext>
              </a:extLst>
            </p:cNvPr>
            <p:cNvSpPr/>
            <p:nvPr/>
          </p:nvSpPr>
          <p:spPr>
            <a:xfrm>
              <a:off x="5898035" y="660529"/>
              <a:ext cx="2088000" cy="118800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Records identified through list of included articles in relevant meta-analyses: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 </a:t>
              </a:r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1,593)</a:t>
              </a:r>
            </a:p>
          </p:txBody>
        </p:sp>
        <p:sp>
          <p:nvSpPr>
            <p:cNvPr id="57" name="Google Shape;95;p13">
              <a:extLst>
                <a:ext uri="{FF2B5EF4-FFF2-40B4-BE49-F238E27FC236}">
                  <a16:creationId xmlns:a16="http://schemas.microsoft.com/office/drawing/2014/main" id="{63EE958F-811D-73FA-3ADF-B3797AA9B254}"/>
                </a:ext>
              </a:extLst>
            </p:cNvPr>
            <p:cNvSpPr/>
            <p:nvPr/>
          </p:nvSpPr>
          <p:spPr>
            <a:xfrm>
              <a:off x="6007217" y="2228460"/>
              <a:ext cx="1872000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Unique records</a:t>
              </a:r>
              <a:endParaRPr lang="en-GB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(n = 1,307)</a:t>
              </a:r>
            </a:p>
          </p:txBody>
        </p:sp>
        <p:sp>
          <p:nvSpPr>
            <p:cNvPr id="58" name="Google Shape;98;p13">
              <a:extLst>
                <a:ext uri="{FF2B5EF4-FFF2-40B4-BE49-F238E27FC236}">
                  <a16:creationId xmlns:a16="http://schemas.microsoft.com/office/drawing/2014/main" id="{528F64E8-7C1B-CC10-7463-2455F3C59BA3}"/>
                </a:ext>
              </a:extLst>
            </p:cNvPr>
            <p:cNvSpPr/>
            <p:nvPr/>
          </p:nvSpPr>
          <p:spPr>
            <a:xfrm>
              <a:off x="6020866" y="5094530"/>
              <a:ext cx="1872000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Studies screened at full text</a:t>
              </a:r>
              <a:endParaRPr lang="en-US"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1,297)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119;p13">
              <a:extLst>
                <a:ext uri="{FF2B5EF4-FFF2-40B4-BE49-F238E27FC236}">
                  <a16:creationId xmlns:a16="http://schemas.microsoft.com/office/drawing/2014/main" id="{823E31EA-DE5F-6CD8-7878-BB1118BA993D}"/>
                </a:ext>
              </a:extLst>
            </p:cNvPr>
            <p:cNvCxnSpPr>
              <a:cxnSpLocks/>
              <a:stCxn id="57" idx="2"/>
              <a:endCxn id="58" idx="0"/>
            </p:cNvCxnSpPr>
            <p:nvPr/>
          </p:nvCxnSpPr>
          <p:spPr>
            <a:xfrm>
              <a:off x="6943217" y="3170570"/>
              <a:ext cx="13649" cy="192396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1" name="Google Shape;95;p13">
              <a:extLst>
                <a:ext uri="{FF2B5EF4-FFF2-40B4-BE49-F238E27FC236}">
                  <a16:creationId xmlns:a16="http://schemas.microsoft.com/office/drawing/2014/main" id="{C2DBD497-F0DC-2996-1810-0447C0B68A98}"/>
                </a:ext>
              </a:extLst>
            </p:cNvPr>
            <p:cNvSpPr/>
            <p:nvPr/>
          </p:nvSpPr>
          <p:spPr>
            <a:xfrm>
              <a:off x="8246092" y="767241"/>
              <a:ext cx="972000" cy="97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Removed:  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Duplicate records   (n = 286)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2D477F06-08E3-3735-5DC1-61B128D855E6}"/>
                </a:ext>
              </a:extLst>
            </p:cNvPr>
            <p:cNvCxnSpPr>
              <a:cxnSpLocks/>
              <a:stCxn id="56" idx="3"/>
              <a:endCxn id="61" idx="1"/>
            </p:cNvCxnSpPr>
            <p:nvPr/>
          </p:nvCxnSpPr>
          <p:spPr>
            <a:xfrm flipV="1">
              <a:off x="7986035" y="1253241"/>
              <a:ext cx="260057" cy="1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Google Shape;95;p13">
              <a:extLst>
                <a:ext uri="{FF2B5EF4-FFF2-40B4-BE49-F238E27FC236}">
                  <a16:creationId xmlns:a16="http://schemas.microsoft.com/office/drawing/2014/main" id="{30E67890-C2AE-94EE-DE33-F28FD87CF345}"/>
                </a:ext>
              </a:extLst>
            </p:cNvPr>
            <p:cNvSpPr/>
            <p:nvPr/>
          </p:nvSpPr>
          <p:spPr>
            <a:xfrm>
              <a:off x="8167564" y="5116870"/>
              <a:ext cx="1224000" cy="900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Unretrievable full texts:</a:t>
              </a:r>
            </a:p>
            <a:p>
              <a:pPr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 accessible (n = 10)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8BCAB95-1908-A088-568C-CB6439EE19FA}"/>
                </a:ext>
              </a:extLst>
            </p:cNvPr>
            <p:cNvCxnSpPr>
              <a:cxnSpLocks/>
              <a:stCxn id="58" idx="3"/>
              <a:endCxn id="63" idx="1"/>
            </p:cNvCxnSpPr>
            <p:nvPr/>
          </p:nvCxnSpPr>
          <p:spPr>
            <a:xfrm>
              <a:off x="7892866" y="5565585"/>
              <a:ext cx="274698" cy="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68F755-338B-A912-6A40-66866610B861}"/>
              </a:ext>
            </a:extLst>
          </p:cNvPr>
          <p:cNvGrpSpPr/>
          <p:nvPr/>
        </p:nvGrpSpPr>
        <p:grpSpPr>
          <a:xfrm>
            <a:off x="4550204" y="669808"/>
            <a:ext cx="3622644" cy="5365551"/>
            <a:chOff x="5158505" y="669808"/>
            <a:chExt cx="3622644" cy="536555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3DFF628-1988-807C-8D4C-8443CB396DB9}"/>
                </a:ext>
              </a:extLst>
            </p:cNvPr>
            <p:cNvGrpSpPr/>
            <p:nvPr/>
          </p:nvGrpSpPr>
          <p:grpSpPr>
            <a:xfrm>
              <a:off x="5158505" y="669808"/>
              <a:ext cx="3497195" cy="3804914"/>
              <a:chOff x="5898035" y="660529"/>
              <a:chExt cx="3497195" cy="3804914"/>
            </a:xfrm>
          </p:grpSpPr>
          <p:sp>
            <p:nvSpPr>
              <p:cNvPr id="45" name="Google Shape;93;p13">
                <a:extLst>
                  <a:ext uri="{FF2B5EF4-FFF2-40B4-BE49-F238E27FC236}">
                    <a16:creationId xmlns:a16="http://schemas.microsoft.com/office/drawing/2014/main" id="{3F363DD6-C9B0-A2C0-8C05-2E598B91CCCD}"/>
                  </a:ext>
                </a:extLst>
              </p:cNvPr>
              <p:cNvSpPr/>
              <p:nvPr/>
            </p:nvSpPr>
            <p:spPr>
              <a:xfrm>
                <a:off x="5898035" y="660529"/>
                <a:ext cx="2340000" cy="1188000"/>
              </a:xfrm>
              <a:prstGeom prst="rect">
                <a:avLst/>
              </a:prstGeom>
              <a:noFill/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GB" sz="15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Search date: 25/01/2023</a:t>
                </a:r>
              </a:p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/>
                    <a:cs typeface="Calibri"/>
                    <a:sym typeface="Calibri"/>
                  </a:rPr>
                  <a:t>Scopus </a:t>
                </a:r>
                <a:r>
                  <a:rPr lang="en-GB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(n = 7,443)</a:t>
                </a:r>
              </a:p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Web of Science (n = 7,252)</a:t>
                </a:r>
              </a:p>
            </p:txBody>
          </p:sp>
          <p:sp>
            <p:nvSpPr>
              <p:cNvPr id="47" name="Google Shape;98;p13">
                <a:extLst>
                  <a:ext uri="{FF2B5EF4-FFF2-40B4-BE49-F238E27FC236}">
                    <a16:creationId xmlns:a16="http://schemas.microsoft.com/office/drawing/2014/main" id="{51FD149D-E98E-C309-4D33-1ED68F734CA0}"/>
                  </a:ext>
                </a:extLst>
              </p:cNvPr>
              <p:cNvSpPr/>
              <p:nvPr/>
            </p:nvSpPr>
            <p:spPr>
              <a:xfrm>
                <a:off x="6143693" y="3523333"/>
                <a:ext cx="1872000" cy="942110"/>
              </a:xfrm>
              <a:prstGeom prst="rect">
                <a:avLst/>
              </a:prstGeom>
              <a:noFill/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Records after abstract screening</a:t>
                </a:r>
                <a:endParaRPr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(n = 269)</a:t>
                </a:r>
                <a:endParaRPr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9" name="Google Shape;119;p13">
                <a:extLst>
                  <a:ext uri="{FF2B5EF4-FFF2-40B4-BE49-F238E27FC236}">
                    <a16:creationId xmlns:a16="http://schemas.microsoft.com/office/drawing/2014/main" id="{40FFF1EF-7CB5-D844-C219-A14A26099B91}"/>
                  </a:ext>
                </a:extLst>
              </p:cNvPr>
              <p:cNvCxnSpPr>
                <a:cxnSpLocks/>
                <a:stCxn id="46" idx="2"/>
                <a:endCxn id="47" idx="0"/>
              </p:cNvCxnSpPr>
              <p:nvPr/>
            </p:nvCxnSpPr>
            <p:spPr>
              <a:xfrm flipH="1">
                <a:off x="7079693" y="3143274"/>
                <a:ext cx="5" cy="3800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50" name="Google Shape;95;p13">
                <a:extLst>
                  <a:ext uri="{FF2B5EF4-FFF2-40B4-BE49-F238E27FC236}">
                    <a16:creationId xmlns:a16="http://schemas.microsoft.com/office/drawing/2014/main" id="{6CF95949-3F7B-FF28-7D6F-BF90583C610A}"/>
                  </a:ext>
                </a:extLst>
              </p:cNvPr>
              <p:cNvSpPr/>
              <p:nvPr/>
            </p:nvSpPr>
            <p:spPr>
              <a:xfrm>
                <a:off x="8423230" y="767241"/>
                <a:ext cx="972000" cy="972000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Removed:   </a:t>
                </a:r>
                <a:r>
                  <a:rPr lang="en-A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Duplicated  records   (n = 8,558)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46AC85F1-63CA-ED3C-9190-F2F8D5108E95}"/>
                  </a:ext>
                </a:extLst>
              </p:cNvPr>
              <p:cNvCxnSpPr>
                <a:cxnSpLocks/>
                <a:stCxn id="45" idx="3"/>
                <a:endCxn id="50" idx="1"/>
              </p:cNvCxnSpPr>
              <p:nvPr/>
            </p:nvCxnSpPr>
            <p:spPr>
              <a:xfrm flipV="1">
                <a:off x="8238035" y="1253241"/>
                <a:ext cx="185195" cy="12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Google Shape;95;p13">
                <a:extLst>
                  <a:ext uri="{FF2B5EF4-FFF2-40B4-BE49-F238E27FC236}">
                    <a16:creationId xmlns:a16="http://schemas.microsoft.com/office/drawing/2014/main" id="{2400F802-9D5E-16C0-38F6-6E1719F68312}"/>
                  </a:ext>
                </a:extLst>
              </p:cNvPr>
              <p:cNvSpPr/>
              <p:nvPr/>
            </p:nvSpPr>
            <p:spPr>
              <a:xfrm>
                <a:off x="8232478" y="3593272"/>
                <a:ext cx="972000" cy="792000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Excluded abstracts </a:t>
                </a:r>
                <a:r>
                  <a:rPr lang="en-A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(n = 5,868)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9444B92-76E8-4930-C76F-7681AF51906C}"/>
                  </a:ext>
                </a:extLst>
              </p:cNvPr>
              <p:cNvCxnSpPr>
                <a:stCxn id="47" idx="3"/>
                <a:endCxn id="52" idx="1"/>
              </p:cNvCxnSpPr>
              <p:nvPr/>
            </p:nvCxnSpPr>
            <p:spPr>
              <a:xfrm flipV="1">
                <a:off x="8015693" y="3989272"/>
                <a:ext cx="216785" cy="51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Google Shape;95;p13">
                <a:extLst>
                  <a:ext uri="{FF2B5EF4-FFF2-40B4-BE49-F238E27FC236}">
                    <a16:creationId xmlns:a16="http://schemas.microsoft.com/office/drawing/2014/main" id="{A6526144-0571-514D-6A22-7F4ABA56B299}"/>
                  </a:ext>
                </a:extLst>
              </p:cNvPr>
              <p:cNvSpPr/>
              <p:nvPr/>
            </p:nvSpPr>
            <p:spPr>
              <a:xfrm>
                <a:off x="6143698" y="2201164"/>
                <a:ext cx="1872000" cy="942110"/>
              </a:xfrm>
              <a:prstGeom prst="rect">
                <a:avLst/>
              </a:prstGeom>
              <a:noFill/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Unique records</a:t>
                </a:r>
                <a:endParaRPr lang="en-GB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(n = 6,137)</a:t>
                </a:r>
              </a:p>
            </p:txBody>
          </p:sp>
        </p:grpSp>
        <p:sp>
          <p:nvSpPr>
            <p:cNvPr id="18" name="Google Shape;100;p13">
              <a:extLst>
                <a:ext uri="{FF2B5EF4-FFF2-40B4-BE49-F238E27FC236}">
                  <a16:creationId xmlns:a16="http://schemas.microsoft.com/office/drawing/2014/main" id="{62AFF6D1-7C97-8270-7DE0-91E288576EED}"/>
                </a:ext>
              </a:extLst>
            </p:cNvPr>
            <p:cNvSpPr/>
            <p:nvPr/>
          </p:nvSpPr>
          <p:spPr>
            <a:xfrm>
              <a:off x="5410922" y="5093249"/>
              <a:ext cx="1872001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Studies screened at full text</a:t>
              </a:r>
              <a:endParaRPr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260)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05;p13">
              <a:extLst>
                <a:ext uri="{FF2B5EF4-FFF2-40B4-BE49-F238E27FC236}">
                  <a16:creationId xmlns:a16="http://schemas.microsoft.com/office/drawing/2014/main" id="{9777D887-210A-41E9-2D0A-61AB5632538F}"/>
                </a:ext>
              </a:extLst>
            </p:cNvPr>
            <p:cNvSpPr/>
            <p:nvPr/>
          </p:nvSpPr>
          <p:spPr>
            <a:xfrm>
              <a:off x="7557149" y="5110735"/>
              <a:ext cx="1224000" cy="900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Unretrievable full texts:</a:t>
              </a:r>
            </a:p>
            <a:p>
              <a:pPr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 accessible (n = 9)</a:t>
              </a:r>
            </a:p>
          </p:txBody>
        </p:sp>
        <p:cxnSp>
          <p:nvCxnSpPr>
            <p:cNvPr id="20" name="Google Shape;120;p13">
              <a:extLst>
                <a:ext uri="{FF2B5EF4-FFF2-40B4-BE49-F238E27FC236}">
                  <a16:creationId xmlns:a16="http://schemas.microsoft.com/office/drawing/2014/main" id="{A69D4730-E0E7-98D1-04CE-F04D7DF8492A}"/>
                </a:ext>
              </a:extLst>
            </p:cNvPr>
            <p:cNvCxnSpPr>
              <a:cxnSpLocks/>
              <a:stCxn id="47" idx="2"/>
              <a:endCxn id="18" idx="0"/>
            </p:cNvCxnSpPr>
            <p:nvPr/>
          </p:nvCxnSpPr>
          <p:spPr>
            <a:xfrm>
              <a:off x="6340163" y="4474722"/>
              <a:ext cx="6760" cy="61852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" name="Google Shape;117;p13">
              <a:extLst>
                <a:ext uri="{FF2B5EF4-FFF2-40B4-BE49-F238E27FC236}">
                  <a16:creationId xmlns:a16="http://schemas.microsoft.com/office/drawing/2014/main" id="{A01F0CB4-5A30-8EC6-65DA-AA3499764564}"/>
                </a:ext>
              </a:extLst>
            </p:cNvPr>
            <p:cNvCxnSpPr>
              <a:cxnSpLocks/>
              <a:stCxn id="18" idx="3"/>
              <a:endCxn id="19" idx="1"/>
            </p:cNvCxnSpPr>
            <p:nvPr/>
          </p:nvCxnSpPr>
          <p:spPr>
            <a:xfrm flipV="1">
              <a:off x="7282923" y="5560735"/>
              <a:ext cx="274226" cy="356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cxnSp>
        <p:nvCxnSpPr>
          <p:cNvPr id="31" name="Google Shape;119;p13">
            <a:extLst>
              <a:ext uri="{FF2B5EF4-FFF2-40B4-BE49-F238E27FC236}">
                <a16:creationId xmlns:a16="http://schemas.microsoft.com/office/drawing/2014/main" id="{75A6B615-91F3-D608-E3D9-56C612A9EF3E}"/>
              </a:ext>
            </a:extLst>
          </p:cNvPr>
          <p:cNvCxnSpPr>
            <a:cxnSpLocks/>
            <a:stCxn id="93" idx="2"/>
            <a:endCxn id="95" idx="0"/>
          </p:cNvCxnSpPr>
          <p:nvPr/>
        </p:nvCxnSpPr>
        <p:spPr>
          <a:xfrm>
            <a:off x="2147224" y="1875807"/>
            <a:ext cx="2369" cy="33045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" name="Google Shape;119;p13">
            <a:extLst>
              <a:ext uri="{FF2B5EF4-FFF2-40B4-BE49-F238E27FC236}">
                <a16:creationId xmlns:a16="http://schemas.microsoft.com/office/drawing/2014/main" id="{F7A35788-6BB6-DE8A-BD75-DE4D029E3F1E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5720204" y="1857808"/>
            <a:ext cx="11663" cy="35263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" name="Google Shape;119;p13">
            <a:extLst>
              <a:ext uri="{FF2B5EF4-FFF2-40B4-BE49-F238E27FC236}">
                <a16:creationId xmlns:a16="http://schemas.microsoft.com/office/drawing/2014/main" id="{A2526E7A-6E3E-B599-212E-35A36C4645B9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9226649" y="1829842"/>
            <a:ext cx="1182" cy="37993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323C705-7473-1B61-2BCD-8447EE989FD1}"/>
              </a:ext>
            </a:extLst>
          </p:cNvPr>
          <p:cNvGrpSpPr/>
          <p:nvPr/>
        </p:nvGrpSpPr>
        <p:grpSpPr>
          <a:xfrm>
            <a:off x="11548415" y="649686"/>
            <a:ext cx="3537141" cy="5368103"/>
            <a:chOff x="995224" y="687807"/>
            <a:chExt cx="3537141" cy="5368103"/>
          </a:xfrm>
        </p:grpSpPr>
        <p:sp>
          <p:nvSpPr>
            <p:cNvPr id="3" name="Google Shape;93;p13">
              <a:extLst>
                <a:ext uri="{FF2B5EF4-FFF2-40B4-BE49-F238E27FC236}">
                  <a16:creationId xmlns:a16="http://schemas.microsoft.com/office/drawing/2014/main" id="{744AEBE3-9D00-4C9F-313B-54E6736C547A}"/>
                </a:ext>
              </a:extLst>
            </p:cNvPr>
            <p:cNvSpPr/>
            <p:nvPr/>
          </p:nvSpPr>
          <p:spPr>
            <a:xfrm>
              <a:off x="995224" y="687807"/>
              <a:ext cx="2304000" cy="118800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Search date: 06/12/2023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Scopus </a:t>
              </a:r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=9,167)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Web of Science (n = 8,379)</a:t>
              </a:r>
            </a:p>
          </p:txBody>
        </p:sp>
        <p:sp>
          <p:nvSpPr>
            <p:cNvPr id="4" name="Google Shape;95;p13">
              <a:extLst>
                <a:ext uri="{FF2B5EF4-FFF2-40B4-BE49-F238E27FC236}">
                  <a16:creationId xmlns:a16="http://schemas.microsoft.com/office/drawing/2014/main" id="{8C9CDE84-679C-5F78-C795-73151BAF4EE5}"/>
                </a:ext>
              </a:extLst>
            </p:cNvPr>
            <p:cNvSpPr/>
            <p:nvPr/>
          </p:nvSpPr>
          <p:spPr>
            <a:xfrm>
              <a:off x="1213593" y="2247206"/>
              <a:ext cx="1872000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Unique records</a:t>
              </a:r>
              <a:endParaRPr lang="en-GB"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1,901)</a:t>
              </a:r>
            </a:p>
          </p:txBody>
        </p:sp>
        <p:sp>
          <p:nvSpPr>
            <p:cNvPr id="5" name="Google Shape;98;p13">
              <a:extLst>
                <a:ext uri="{FF2B5EF4-FFF2-40B4-BE49-F238E27FC236}">
                  <a16:creationId xmlns:a16="http://schemas.microsoft.com/office/drawing/2014/main" id="{8A2DA7FF-C670-2A00-D977-53F7A8F97013}"/>
                </a:ext>
              </a:extLst>
            </p:cNvPr>
            <p:cNvSpPr/>
            <p:nvPr/>
          </p:nvSpPr>
          <p:spPr>
            <a:xfrm>
              <a:off x="1211976" y="3523316"/>
              <a:ext cx="1872000" cy="113649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Records after title/abstract screening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257)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00;p13">
              <a:extLst>
                <a:ext uri="{FF2B5EF4-FFF2-40B4-BE49-F238E27FC236}">
                  <a16:creationId xmlns:a16="http://schemas.microsoft.com/office/drawing/2014/main" id="{24D73B36-2D8D-E674-B143-8011B981D783}"/>
                </a:ext>
              </a:extLst>
            </p:cNvPr>
            <p:cNvSpPr/>
            <p:nvPr/>
          </p:nvSpPr>
          <p:spPr>
            <a:xfrm>
              <a:off x="1209431" y="5113800"/>
              <a:ext cx="1872001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Studies screened at full text</a:t>
              </a:r>
              <a:endParaRPr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252)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05;p13">
              <a:extLst>
                <a:ext uri="{FF2B5EF4-FFF2-40B4-BE49-F238E27FC236}">
                  <a16:creationId xmlns:a16="http://schemas.microsoft.com/office/drawing/2014/main" id="{B2C0727B-E53D-4B45-29EF-60AF29CD9D1F}"/>
                </a:ext>
              </a:extLst>
            </p:cNvPr>
            <p:cNvSpPr/>
            <p:nvPr/>
          </p:nvSpPr>
          <p:spPr>
            <a:xfrm>
              <a:off x="3308365" y="5128303"/>
              <a:ext cx="1224000" cy="900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Unretrievable full texts:</a:t>
              </a:r>
            </a:p>
            <a:p>
              <a:pPr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 accessible (n = 5)</a:t>
              </a:r>
            </a:p>
          </p:txBody>
        </p:sp>
        <p:cxnSp>
          <p:nvCxnSpPr>
            <p:cNvPr id="8" name="Google Shape;117;p13">
              <a:extLst>
                <a:ext uri="{FF2B5EF4-FFF2-40B4-BE49-F238E27FC236}">
                  <a16:creationId xmlns:a16="http://schemas.microsoft.com/office/drawing/2014/main" id="{13F8F32F-A7A0-AFA3-DA64-0A35286C198A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 flipV="1">
              <a:off x="3081432" y="5578303"/>
              <a:ext cx="226933" cy="6552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" name="Google Shape;119;p13">
              <a:extLst>
                <a:ext uri="{FF2B5EF4-FFF2-40B4-BE49-F238E27FC236}">
                  <a16:creationId xmlns:a16="http://schemas.microsoft.com/office/drawing/2014/main" id="{EF73E85D-2B54-3641-7DEA-22DDF21CFBEF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2147976" y="3189316"/>
              <a:ext cx="1617" cy="334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0" name="Google Shape;120;p13">
              <a:extLst>
                <a:ext uri="{FF2B5EF4-FFF2-40B4-BE49-F238E27FC236}">
                  <a16:creationId xmlns:a16="http://schemas.microsoft.com/office/drawing/2014/main" id="{97D54D2A-2868-C531-9AC2-F1955768457D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2145432" y="4659806"/>
              <a:ext cx="2544" cy="45399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" name="Google Shape;95;p13">
              <a:extLst>
                <a:ext uri="{FF2B5EF4-FFF2-40B4-BE49-F238E27FC236}">
                  <a16:creationId xmlns:a16="http://schemas.microsoft.com/office/drawing/2014/main" id="{CED89E96-E0CF-E43B-3F50-E659D79F3649}"/>
                </a:ext>
              </a:extLst>
            </p:cNvPr>
            <p:cNvSpPr/>
            <p:nvPr/>
          </p:nvSpPr>
          <p:spPr>
            <a:xfrm>
              <a:off x="3474621" y="796938"/>
              <a:ext cx="1057743" cy="97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Removed:  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Duplicated records     (n = 15,645)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AEAAE65-880C-A130-0070-60B4032EDF4B}"/>
                </a:ext>
              </a:extLst>
            </p:cNvPr>
            <p:cNvCxnSpPr>
              <a:cxnSpLocks/>
              <a:stCxn id="3" idx="3"/>
              <a:endCxn id="11" idx="1"/>
            </p:cNvCxnSpPr>
            <p:nvPr/>
          </p:nvCxnSpPr>
          <p:spPr>
            <a:xfrm>
              <a:off x="3299224" y="1281807"/>
              <a:ext cx="175397" cy="1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oogle Shape;95;p13">
              <a:extLst>
                <a:ext uri="{FF2B5EF4-FFF2-40B4-BE49-F238E27FC236}">
                  <a16:creationId xmlns:a16="http://schemas.microsoft.com/office/drawing/2014/main" id="{5CECD362-12FA-6C51-5FD9-97A2623C9258}"/>
                </a:ext>
              </a:extLst>
            </p:cNvPr>
            <p:cNvSpPr/>
            <p:nvPr/>
          </p:nvSpPr>
          <p:spPr>
            <a:xfrm>
              <a:off x="3360289" y="3694739"/>
              <a:ext cx="972000" cy="79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Excluded abstracts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(n = 1,644)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AD3FA2-1CF2-EBA4-9E8F-DD8783EB050A}"/>
                </a:ext>
              </a:extLst>
            </p:cNvPr>
            <p:cNvCxnSpPr>
              <a:cxnSpLocks/>
              <a:stCxn id="5" idx="3"/>
              <a:endCxn id="13" idx="1"/>
            </p:cNvCxnSpPr>
            <p:nvPr/>
          </p:nvCxnSpPr>
          <p:spPr>
            <a:xfrm flipV="1">
              <a:off x="3083976" y="4090739"/>
              <a:ext cx="276313" cy="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10E126-8792-FA86-150F-EAD3E36A240D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12700415" y="1837686"/>
            <a:ext cx="2369" cy="37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101;p13">
            <a:extLst>
              <a:ext uri="{FF2B5EF4-FFF2-40B4-BE49-F238E27FC236}">
                <a16:creationId xmlns:a16="http://schemas.microsoft.com/office/drawing/2014/main" id="{A66483FE-8478-4D2F-DD45-BB8F358E6971}"/>
              </a:ext>
            </a:extLst>
          </p:cNvPr>
          <p:cNvSpPr/>
          <p:nvPr/>
        </p:nvSpPr>
        <p:spPr>
          <a:xfrm>
            <a:off x="4693760" y="6490185"/>
            <a:ext cx="2088000" cy="115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review after full-text screening</a:t>
            </a:r>
          </a:p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17)</a:t>
            </a:r>
          </a:p>
        </p:txBody>
      </p:sp>
      <p:sp>
        <p:nvSpPr>
          <p:cNvPr id="32" name="Google Shape;101;p13">
            <a:extLst>
              <a:ext uri="{FF2B5EF4-FFF2-40B4-BE49-F238E27FC236}">
                <a16:creationId xmlns:a16="http://schemas.microsoft.com/office/drawing/2014/main" id="{9EE6E510-F238-6DA3-E5A2-DB5B25C245B9}"/>
              </a:ext>
            </a:extLst>
          </p:cNvPr>
          <p:cNvSpPr/>
          <p:nvPr/>
        </p:nvSpPr>
        <p:spPr>
          <a:xfrm>
            <a:off x="8202786" y="6536214"/>
            <a:ext cx="2088000" cy="115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review after full-text screening</a:t>
            </a:r>
          </a:p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85)</a:t>
            </a:r>
          </a:p>
        </p:txBody>
      </p:sp>
      <p:sp>
        <p:nvSpPr>
          <p:cNvPr id="33" name="Google Shape;101;p13">
            <a:extLst>
              <a:ext uri="{FF2B5EF4-FFF2-40B4-BE49-F238E27FC236}">
                <a16:creationId xmlns:a16="http://schemas.microsoft.com/office/drawing/2014/main" id="{C95E1B1A-1957-BBD8-0308-D417CE5C2D82}"/>
              </a:ext>
            </a:extLst>
          </p:cNvPr>
          <p:cNvSpPr/>
          <p:nvPr/>
        </p:nvSpPr>
        <p:spPr>
          <a:xfrm>
            <a:off x="11664646" y="6536214"/>
            <a:ext cx="2088000" cy="115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review after full-text screening</a:t>
            </a:r>
          </a:p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26)</a:t>
            </a:r>
          </a:p>
        </p:txBody>
      </p:sp>
      <p:sp>
        <p:nvSpPr>
          <p:cNvPr id="36" name="Google Shape;101;p13">
            <a:extLst>
              <a:ext uri="{FF2B5EF4-FFF2-40B4-BE49-F238E27FC236}">
                <a16:creationId xmlns:a16="http://schemas.microsoft.com/office/drawing/2014/main" id="{823D1D4F-6663-367A-C847-7AFEDF6F8D7F}"/>
              </a:ext>
            </a:extLst>
          </p:cNvPr>
          <p:cNvSpPr/>
          <p:nvPr/>
        </p:nvSpPr>
        <p:spPr>
          <a:xfrm>
            <a:off x="5965158" y="9128787"/>
            <a:ext cx="3641180" cy="11520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Total studies included in the meta-analysis after full-text screening</a:t>
            </a:r>
          </a:p>
          <a:p>
            <a:pPr algn="ctr"/>
            <a:r>
              <a:rPr lang="en-US" sz="1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(n = 154)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1E1DDA-F37C-859B-AE18-B37CA093B419}"/>
              </a:ext>
            </a:extLst>
          </p:cNvPr>
          <p:cNvCxnSpPr>
            <a:stCxn id="100" idx="2"/>
            <a:endCxn id="101" idx="0"/>
          </p:cNvCxnSpPr>
          <p:nvPr/>
        </p:nvCxnSpPr>
        <p:spPr>
          <a:xfrm flipH="1">
            <a:off x="2144570" y="6055910"/>
            <a:ext cx="862" cy="43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19FA59C-9D22-1666-3FDE-0D9316703416}"/>
              </a:ext>
            </a:extLst>
          </p:cNvPr>
          <p:cNvCxnSpPr>
            <a:stCxn id="18" idx="2"/>
            <a:endCxn id="30" idx="0"/>
          </p:cNvCxnSpPr>
          <p:nvPr/>
        </p:nvCxnSpPr>
        <p:spPr>
          <a:xfrm flipH="1">
            <a:off x="5737760" y="6035359"/>
            <a:ext cx="862" cy="454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DD063D8-7601-1DA5-3BE2-5F95112AE989}"/>
              </a:ext>
            </a:extLst>
          </p:cNvPr>
          <p:cNvCxnSpPr>
            <a:stCxn id="58" idx="2"/>
            <a:endCxn id="32" idx="0"/>
          </p:cNvCxnSpPr>
          <p:nvPr/>
        </p:nvCxnSpPr>
        <p:spPr>
          <a:xfrm>
            <a:off x="9241480" y="6017953"/>
            <a:ext cx="5306" cy="518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8B85954-371B-3947-36C5-3F34897647CA}"/>
              </a:ext>
            </a:extLst>
          </p:cNvPr>
          <p:cNvCxnSpPr>
            <a:stCxn id="6" idx="2"/>
            <a:endCxn id="33" idx="0"/>
          </p:cNvCxnSpPr>
          <p:nvPr/>
        </p:nvCxnSpPr>
        <p:spPr>
          <a:xfrm>
            <a:off x="12698623" y="6017789"/>
            <a:ext cx="10023" cy="518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2F5364-F75F-F1AA-99D8-4B5D30A8E873}"/>
              </a:ext>
            </a:extLst>
          </p:cNvPr>
          <p:cNvCxnSpPr>
            <a:stCxn id="95" idx="3"/>
            <a:endCxn id="46" idx="1"/>
          </p:cNvCxnSpPr>
          <p:nvPr/>
        </p:nvCxnSpPr>
        <p:spPr>
          <a:xfrm>
            <a:off x="3085593" y="2677317"/>
            <a:ext cx="1710274" cy="4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249F42D-368F-6DEB-17C1-8B4F8984D390}"/>
              </a:ext>
            </a:extLst>
          </p:cNvPr>
          <p:cNvCxnSpPr>
            <a:stCxn id="46" idx="3"/>
            <a:endCxn id="57" idx="1"/>
          </p:cNvCxnSpPr>
          <p:nvPr/>
        </p:nvCxnSpPr>
        <p:spPr>
          <a:xfrm flipV="1">
            <a:off x="6667867" y="2680828"/>
            <a:ext cx="1623964" cy="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A375755-2D80-0A86-5801-75D5F8E87ED3}"/>
              </a:ext>
            </a:extLst>
          </p:cNvPr>
          <p:cNvCxnSpPr>
            <a:stCxn id="57" idx="3"/>
            <a:endCxn id="4" idx="1"/>
          </p:cNvCxnSpPr>
          <p:nvPr/>
        </p:nvCxnSpPr>
        <p:spPr>
          <a:xfrm flipV="1">
            <a:off x="10163831" y="2680140"/>
            <a:ext cx="1602953" cy="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8A9B012-35D3-AE9A-283B-7A24B1BC7A48}"/>
              </a:ext>
            </a:extLst>
          </p:cNvPr>
          <p:cNvCxnSpPr>
            <a:cxnSpLocks/>
            <a:stCxn id="4" idx="3"/>
            <a:endCxn id="67" idx="1"/>
          </p:cNvCxnSpPr>
          <p:nvPr/>
        </p:nvCxnSpPr>
        <p:spPr>
          <a:xfrm flipV="1">
            <a:off x="13638784" y="2673753"/>
            <a:ext cx="389029" cy="6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Google Shape;95;p13">
            <a:extLst>
              <a:ext uri="{FF2B5EF4-FFF2-40B4-BE49-F238E27FC236}">
                <a16:creationId xmlns:a16="http://schemas.microsoft.com/office/drawing/2014/main" id="{9C36F1AA-D3CF-80ED-A42C-41F22AC820E4}"/>
              </a:ext>
            </a:extLst>
          </p:cNvPr>
          <p:cNvSpPr/>
          <p:nvPr/>
        </p:nvSpPr>
        <p:spPr>
          <a:xfrm>
            <a:off x="14027813" y="2202698"/>
            <a:ext cx="1305333" cy="94211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5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Total unique records</a:t>
            </a:r>
            <a:endParaRPr lang="en-GB" sz="1500" b="1" dirty="0">
              <a:solidFill>
                <a:schemeClr val="bg1"/>
              </a:solidFill>
            </a:endParaRPr>
          </a:p>
          <a:p>
            <a:pPr algn="ctr"/>
            <a:r>
              <a:rPr lang="en-GB" sz="15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(n = 12,945)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97046A-26AE-6826-A260-EA0B81BACC24}"/>
              </a:ext>
            </a:extLst>
          </p:cNvPr>
          <p:cNvCxnSpPr>
            <a:cxnSpLocks/>
          </p:cNvCxnSpPr>
          <p:nvPr/>
        </p:nvCxnSpPr>
        <p:spPr>
          <a:xfrm>
            <a:off x="2136015" y="8236053"/>
            <a:ext cx="10770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418786-121B-62C1-D060-52BBB422C62E}"/>
              </a:ext>
            </a:extLst>
          </p:cNvPr>
          <p:cNvCxnSpPr>
            <a:cxnSpLocks/>
          </p:cNvCxnSpPr>
          <p:nvPr/>
        </p:nvCxnSpPr>
        <p:spPr>
          <a:xfrm>
            <a:off x="2136015" y="7649040"/>
            <a:ext cx="8555" cy="587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D6ED71D-CEC6-E61C-5918-6FB604D3C687}"/>
              </a:ext>
            </a:extLst>
          </p:cNvPr>
          <p:cNvCxnSpPr>
            <a:cxnSpLocks/>
          </p:cNvCxnSpPr>
          <p:nvPr/>
        </p:nvCxnSpPr>
        <p:spPr>
          <a:xfrm>
            <a:off x="5738621" y="7638997"/>
            <a:ext cx="8555" cy="587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343A3C3-64A6-C9EB-CD5D-AE8F3D51A3D0}"/>
              </a:ext>
            </a:extLst>
          </p:cNvPr>
          <p:cNvCxnSpPr>
            <a:cxnSpLocks/>
          </p:cNvCxnSpPr>
          <p:nvPr/>
        </p:nvCxnSpPr>
        <p:spPr>
          <a:xfrm>
            <a:off x="9328104" y="7688214"/>
            <a:ext cx="0" cy="54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59D8EDE-47A6-5461-968B-7D09A9C79365}"/>
              </a:ext>
            </a:extLst>
          </p:cNvPr>
          <p:cNvCxnSpPr>
            <a:cxnSpLocks/>
          </p:cNvCxnSpPr>
          <p:nvPr/>
        </p:nvCxnSpPr>
        <p:spPr>
          <a:xfrm>
            <a:off x="12897548" y="7675660"/>
            <a:ext cx="8555" cy="587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4DBEA65-1C43-8A47-4C16-9EAC17A1B547}"/>
              </a:ext>
            </a:extLst>
          </p:cNvPr>
          <p:cNvCxnSpPr>
            <a:cxnSpLocks/>
          </p:cNvCxnSpPr>
          <p:nvPr/>
        </p:nvCxnSpPr>
        <p:spPr>
          <a:xfrm flipH="1">
            <a:off x="7531466" y="8221998"/>
            <a:ext cx="12348" cy="906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AD5FAE4-2469-4C39-C4BB-1CC0A1287E91}"/>
              </a:ext>
            </a:extLst>
          </p:cNvPr>
          <p:cNvCxnSpPr>
            <a:cxnSpLocks/>
          </p:cNvCxnSpPr>
          <p:nvPr/>
        </p:nvCxnSpPr>
        <p:spPr>
          <a:xfrm>
            <a:off x="7531466" y="8814281"/>
            <a:ext cx="2656421" cy="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4D62A89-FF85-9FBF-06C3-6D3B8F932067}"/>
              </a:ext>
            </a:extLst>
          </p:cNvPr>
          <p:cNvCxnSpPr>
            <a:cxnSpLocks/>
          </p:cNvCxnSpPr>
          <p:nvPr/>
        </p:nvCxnSpPr>
        <p:spPr>
          <a:xfrm>
            <a:off x="7560848" y="10245564"/>
            <a:ext cx="0" cy="2141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8325FA0-40A0-F159-A287-C698305A5223}"/>
              </a:ext>
            </a:extLst>
          </p:cNvPr>
          <p:cNvCxnSpPr>
            <a:cxnSpLocks/>
          </p:cNvCxnSpPr>
          <p:nvPr/>
        </p:nvCxnSpPr>
        <p:spPr>
          <a:xfrm>
            <a:off x="6884647" y="12386730"/>
            <a:ext cx="188454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33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02EB1A62-BA7C-68E0-BCD6-073D8FF9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3">
            <a:extLst>
              <a:ext uri="{FF2B5EF4-FFF2-40B4-BE49-F238E27FC236}">
                <a16:creationId xmlns:a16="http://schemas.microsoft.com/office/drawing/2014/main" id="{07926F87-C3C3-A739-97C3-D005395AAB8E}"/>
              </a:ext>
            </a:extLst>
          </p:cNvPr>
          <p:cNvCxnSpPr>
            <a:cxnSpLocks/>
          </p:cNvCxnSpPr>
          <p:nvPr/>
        </p:nvCxnSpPr>
        <p:spPr>
          <a:xfrm>
            <a:off x="19666" y="9888093"/>
            <a:ext cx="15532164" cy="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F78594A8-CA71-461B-4702-B3212D65A7F0}"/>
              </a:ext>
            </a:extLst>
          </p:cNvPr>
          <p:cNvSpPr/>
          <p:nvPr/>
        </p:nvSpPr>
        <p:spPr>
          <a:xfrm>
            <a:off x="954812" y="3414211"/>
            <a:ext cx="14429803" cy="6338907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C339887-3DEA-495C-68AD-8E4654B4C514}"/>
              </a:ext>
            </a:extLst>
          </p:cNvPr>
          <p:cNvGrpSpPr/>
          <p:nvPr/>
        </p:nvGrpSpPr>
        <p:grpSpPr>
          <a:xfrm>
            <a:off x="126935" y="687807"/>
            <a:ext cx="573952" cy="2555123"/>
            <a:chOff x="-134321" y="687807"/>
            <a:chExt cx="573952" cy="2555123"/>
          </a:xfrm>
        </p:grpSpPr>
        <p:sp>
          <p:nvSpPr>
            <p:cNvPr id="91" name="Google Shape;91;p13">
              <a:extLst>
                <a:ext uri="{FF2B5EF4-FFF2-40B4-BE49-F238E27FC236}">
                  <a16:creationId xmlns:a16="http://schemas.microsoft.com/office/drawing/2014/main" id="{977CBC5B-C9A1-7FD5-68CF-10FCD9459CE3}"/>
                </a:ext>
              </a:extLst>
            </p:cNvPr>
            <p:cNvSpPr/>
            <p:nvPr/>
          </p:nvSpPr>
          <p:spPr>
            <a:xfrm>
              <a:off x="-134321" y="687807"/>
              <a:ext cx="573952" cy="255512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2" name="Google Shape;92;p13">
              <a:extLst>
                <a:ext uri="{FF2B5EF4-FFF2-40B4-BE49-F238E27FC236}">
                  <a16:creationId xmlns:a16="http://schemas.microsoft.com/office/drawing/2014/main" id="{2D5FD1E4-1CE6-409C-15ED-A62F751F878C}"/>
                </a:ext>
              </a:extLst>
            </p:cNvPr>
            <p:cNvSpPr txBox="1"/>
            <p:nvPr/>
          </p:nvSpPr>
          <p:spPr>
            <a:xfrm rot="-5400000">
              <a:off x="-1031162" y="1640673"/>
              <a:ext cx="2367626" cy="5179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Literature search</a:t>
              </a:r>
              <a:endParaRPr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3">
            <a:extLst>
              <a:ext uri="{FF2B5EF4-FFF2-40B4-BE49-F238E27FC236}">
                <a16:creationId xmlns:a16="http://schemas.microsoft.com/office/drawing/2014/main" id="{DD8D6BAC-BFD3-6AC6-C34A-AFFF7A250331}"/>
              </a:ext>
            </a:extLst>
          </p:cNvPr>
          <p:cNvSpPr/>
          <p:nvPr/>
        </p:nvSpPr>
        <p:spPr>
          <a:xfrm>
            <a:off x="116685" y="3381941"/>
            <a:ext cx="573952" cy="64069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7" name="Google Shape;97;p13">
            <a:extLst>
              <a:ext uri="{FF2B5EF4-FFF2-40B4-BE49-F238E27FC236}">
                <a16:creationId xmlns:a16="http://schemas.microsoft.com/office/drawing/2014/main" id="{E87465D0-664C-AACD-D68B-69C81E102753}"/>
              </a:ext>
            </a:extLst>
          </p:cNvPr>
          <p:cNvSpPr txBox="1"/>
          <p:nvPr/>
        </p:nvSpPr>
        <p:spPr>
          <a:xfrm rot="-5400000">
            <a:off x="-884057" y="6522296"/>
            <a:ext cx="2575436" cy="5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Screening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542E5AD2-056B-C6BE-7D18-4E20D1665139}"/>
              </a:ext>
            </a:extLst>
          </p:cNvPr>
          <p:cNvSpPr/>
          <p:nvPr/>
        </p:nvSpPr>
        <p:spPr>
          <a:xfrm>
            <a:off x="1100570" y="6490185"/>
            <a:ext cx="2088000" cy="115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review after full-text screening</a:t>
            </a:r>
          </a:p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36)</a:t>
            </a:r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19066259-8360-EA9D-1FB9-54E79F132F26}"/>
              </a:ext>
            </a:extLst>
          </p:cNvPr>
          <p:cNvSpPr/>
          <p:nvPr/>
        </p:nvSpPr>
        <p:spPr>
          <a:xfrm>
            <a:off x="10379404" y="8702581"/>
            <a:ext cx="2975365" cy="2619499"/>
          </a:xfrm>
          <a:prstGeom prst="rect">
            <a:avLst/>
          </a:prstGeom>
          <a:solidFill>
            <a:schemeClr val="tx2"/>
          </a:solidFill>
          <a:ln w="12700" cap="flat" cmpd="sng">
            <a:solidFill>
              <a:schemeClr val="tx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Excluded after full-text screening (n = 2,023)</a:t>
            </a:r>
            <a:endParaRPr sz="1800" b="1" dirty="0"/>
          </a:p>
          <a:p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Excluded on different: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 (n = 49)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Intervention a (n = 1,191)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Comparator (n = 35)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 (n = 547)</a:t>
            </a:r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(n = 43)</a:t>
            </a:r>
            <a:endParaRPr dirty="0"/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a peer reviewed (n= 125)</a:t>
            </a:r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in English (n= 6)</a:t>
            </a:r>
          </a:p>
          <a:p>
            <a:pPr marL="450775" indent="-112693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Retracted article (n= 1)</a:t>
            </a:r>
            <a:endParaRPr dirty="0"/>
          </a:p>
        </p:txBody>
      </p:sp>
      <p:sp>
        <p:nvSpPr>
          <p:cNvPr id="110" name="Google Shape;110;p13">
            <a:extLst>
              <a:ext uri="{FF2B5EF4-FFF2-40B4-BE49-F238E27FC236}">
                <a16:creationId xmlns:a16="http://schemas.microsoft.com/office/drawing/2014/main" id="{19E5DF6C-1026-CEBE-8BF0-CC8551F75147}"/>
              </a:ext>
            </a:extLst>
          </p:cNvPr>
          <p:cNvSpPr/>
          <p:nvPr/>
        </p:nvSpPr>
        <p:spPr>
          <a:xfrm>
            <a:off x="154957" y="10023069"/>
            <a:ext cx="573952" cy="18773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1" name="Google Shape;111;p13">
            <a:extLst>
              <a:ext uri="{FF2B5EF4-FFF2-40B4-BE49-F238E27FC236}">
                <a16:creationId xmlns:a16="http://schemas.microsoft.com/office/drawing/2014/main" id="{C4C24839-5899-0766-2499-2EC27DCA789A}"/>
              </a:ext>
            </a:extLst>
          </p:cNvPr>
          <p:cNvSpPr txBox="1"/>
          <p:nvPr/>
        </p:nvSpPr>
        <p:spPr>
          <a:xfrm rot="-5400000">
            <a:off x="-482759" y="10716795"/>
            <a:ext cx="1849376" cy="5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Evidence map</a:t>
            </a:r>
            <a:endParaRPr sz="2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0C9418-64B8-18D6-C4AC-2DDBF5C28406}"/>
              </a:ext>
            </a:extLst>
          </p:cNvPr>
          <p:cNvGrpSpPr/>
          <p:nvPr/>
        </p:nvGrpSpPr>
        <p:grpSpPr>
          <a:xfrm>
            <a:off x="995224" y="687807"/>
            <a:ext cx="3451398" cy="5368103"/>
            <a:chOff x="995224" y="687807"/>
            <a:chExt cx="3451398" cy="5368103"/>
          </a:xfrm>
        </p:grpSpPr>
        <p:sp>
          <p:nvSpPr>
            <p:cNvPr id="93" name="Google Shape;93;p13">
              <a:extLst>
                <a:ext uri="{FF2B5EF4-FFF2-40B4-BE49-F238E27FC236}">
                  <a16:creationId xmlns:a16="http://schemas.microsoft.com/office/drawing/2014/main" id="{9185DFAF-15BE-8ADE-45BD-BD7BA8767F82}"/>
                </a:ext>
              </a:extLst>
            </p:cNvPr>
            <p:cNvSpPr/>
            <p:nvPr/>
          </p:nvSpPr>
          <p:spPr>
            <a:xfrm>
              <a:off x="995224" y="687807"/>
              <a:ext cx="2304000" cy="118800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Search date: 20/12/2022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Scopus </a:t>
              </a:r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2,940)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Web of Science (n = 3,011)</a:t>
              </a:r>
            </a:p>
          </p:txBody>
        </p:sp>
        <p:sp>
          <p:nvSpPr>
            <p:cNvPr id="95" name="Google Shape;95;p13">
              <a:extLst>
                <a:ext uri="{FF2B5EF4-FFF2-40B4-BE49-F238E27FC236}">
                  <a16:creationId xmlns:a16="http://schemas.microsoft.com/office/drawing/2014/main" id="{9F7A688E-69E2-9573-DD71-B9B33D858FAE}"/>
                </a:ext>
              </a:extLst>
            </p:cNvPr>
            <p:cNvSpPr/>
            <p:nvPr/>
          </p:nvSpPr>
          <p:spPr>
            <a:xfrm>
              <a:off x="1213593" y="2206262"/>
              <a:ext cx="1872000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Unique records</a:t>
              </a:r>
              <a:endParaRPr lang="en-GB"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3,600)</a:t>
              </a:r>
            </a:p>
          </p:txBody>
        </p:sp>
        <p:sp>
          <p:nvSpPr>
            <p:cNvPr id="98" name="Google Shape;98;p13">
              <a:extLst>
                <a:ext uri="{FF2B5EF4-FFF2-40B4-BE49-F238E27FC236}">
                  <a16:creationId xmlns:a16="http://schemas.microsoft.com/office/drawing/2014/main" id="{1E3C04BC-6628-0303-27A0-FC3C72EAA17B}"/>
                </a:ext>
              </a:extLst>
            </p:cNvPr>
            <p:cNvSpPr/>
            <p:nvPr/>
          </p:nvSpPr>
          <p:spPr>
            <a:xfrm>
              <a:off x="1211976" y="3523316"/>
              <a:ext cx="1872000" cy="113649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Records after title/abstract screening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382)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>
              <a:extLst>
                <a:ext uri="{FF2B5EF4-FFF2-40B4-BE49-F238E27FC236}">
                  <a16:creationId xmlns:a16="http://schemas.microsoft.com/office/drawing/2014/main" id="{FEC69FB6-56C6-85BB-2D7C-917D3DCD20A0}"/>
                </a:ext>
              </a:extLst>
            </p:cNvPr>
            <p:cNvSpPr/>
            <p:nvPr/>
          </p:nvSpPr>
          <p:spPr>
            <a:xfrm>
              <a:off x="1209431" y="5113800"/>
              <a:ext cx="1872001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Studies screened at full text</a:t>
              </a:r>
              <a:endParaRPr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382)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" name="Google Shape;119;p13">
              <a:extLst>
                <a:ext uri="{FF2B5EF4-FFF2-40B4-BE49-F238E27FC236}">
                  <a16:creationId xmlns:a16="http://schemas.microsoft.com/office/drawing/2014/main" id="{EE7863B2-026F-746B-2706-207571747A0B}"/>
                </a:ext>
              </a:extLst>
            </p:cNvPr>
            <p:cNvCxnSpPr>
              <a:cxnSpLocks/>
              <a:stCxn id="95" idx="2"/>
              <a:endCxn id="98" idx="0"/>
            </p:cNvCxnSpPr>
            <p:nvPr/>
          </p:nvCxnSpPr>
          <p:spPr>
            <a:xfrm flipH="1">
              <a:off x="2147976" y="3148372"/>
              <a:ext cx="1617" cy="37494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0" name="Google Shape;120;p13">
              <a:extLst>
                <a:ext uri="{FF2B5EF4-FFF2-40B4-BE49-F238E27FC236}">
                  <a16:creationId xmlns:a16="http://schemas.microsoft.com/office/drawing/2014/main" id="{0B318801-954A-9C47-B1C2-B5D58B171DEA}"/>
                </a:ext>
              </a:extLst>
            </p:cNvPr>
            <p:cNvCxnSpPr>
              <a:cxnSpLocks/>
              <a:stCxn id="98" idx="2"/>
              <a:endCxn id="100" idx="0"/>
            </p:cNvCxnSpPr>
            <p:nvPr/>
          </p:nvCxnSpPr>
          <p:spPr>
            <a:xfrm flipH="1">
              <a:off x="2145432" y="4659806"/>
              <a:ext cx="2544" cy="45399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" name="Google Shape;95;p13">
              <a:extLst>
                <a:ext uri="{FF2B5EF4-FFF2-40B4-BE49-F238E27FC236}">
                  <a16:creationId xmlns:a16="http://schemas.microsoft.com/office/drawing/2014/main" id="{25F03758-93DD-C2D1-7BEE-6E79170C7994}"/>
                </a:ext>
              </a:extLst>
            </p:cNvPr>
            <p:cNvSpPr/>
            <p:nvPr/>
          </p:nvSpPr>
          <p:spPr>
            <a:xfrm>
              <a:off x="3474622" y="794519"/>
              <a:ext cx="972000" cy="97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Removed:  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Duplicated records   (n = 2,351)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34F6550-CB7F-46E4-46CB-F9C90E406016}"/>
                </a:ext>
              </a:extLst>
            </p:cNvPr>
            <p:cNvCxnSpPr>
              <a:cxnSpLocks/>
              <a:stCxn id="93" idx="3"/>
              <a:endCxn id="22" idx="1"/>
            </p:cNvCxnSpPr>
            <p:nvPr/>
          </p:nvCxnSpPr>
          <p:spPr>
            <a:xfrm flipV="1">
              <a:off x="3299224" y="1280519"/>
              <a:ext cx="175398" cy="1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Google Shape;95;p13">
              <a:extLst>
                <a:ext uri="{FF2B5EF4-FFF2-40B4-BE49-F238E27FC236}">
                  <a16:creationId xmlns:a16="http://schemas.microsoft.com/office/drawing/2014/main" id="{096917E9-041C-CD2E-17F4-817B0DEE296F}"/>
                </a:ext>
              </a:extLst>
            </p:cNvPr>
            <p:cNvSpPr/>
            <p:nvPr/>
          </p:nvSpPr>
          <p:spPr>
            <a:xfrm>
              <a:off x="3360289" y="3691822"/>
              <a:ext cx="972000" cy="79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Excluded abstracts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(n = 3,218)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A125927-ACF6-1DC8-C77A-C890CB6BCD51}"/>
                </a:ext>
              </a:extLst>
            </p:cNvPr>
            <p:cNvCxnSpPr>
              <a:cxnSpLocks/>
              <a:stCxn id="98" idx="3"/>
              <a:endCxn id="38" idx="1"/>
            </p:cNvCxnSpPr>
            <p:nvPr/>
          </p:nvCxnSpPr>
          <p:spPr>
            <a:xfrm flipV="1">
              <a:off x="3083976" y="4087822"/>
              <a:ext cx="276313" cy="37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CBED676-79AD-10B1-7B32-CBC2B4267942}"/>
              </a:ext>
            </a:extLst>
          </p:cNvPr>
          <p:cNvGrpSpPr/>
          <p:nvPr/>
        </p:nvGrpSpPr>
        <p:grpSpPr>
          <a:xfrm>
            <a:off x="8182649" y="641842"/>
            <a:ext cx="3493529" cy="5376111"/>
            <a:chOff x="5898035" y="660529"/>
            <a:chExt cx="3493529" cy="5376111"/>
          </a:xfrm>
        </p:grpSpPr>
        <p:sp>
          <p:nvSpPr>
            <p:cNvPr id="56" name="Google Shape;93;p13">
              <a:extLst>
                <a:ext uri="{FF2B5EF4-FFF2-40B4-BE49-F238E27FC236}">
                  <a16:creationId xmlns:a16="http://schemas.microsoft.com/office/drawing/2014/main" id="{C246741D-7281-D188-C10A-FA1A61655D65}"/>
                </a:ext>
              </a:extLst>
            </p:cNvPr>
            <p:cNvSpPr/>
            <p:nvPr/>
          </p:nvSpPr>
          <p:spPr>
            <a:xfrm>
              <a:off x="5898035" y="660529"/>
              <a:ext cx="2088000" cy="118800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Records identified through list of included articles in relevant meta-analyses: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 </a:t>
              </a:r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1,593)</a:t>
              </a:r>
            </a:p>
          </p:txBody>
        </p:sp>
        <p:sp>
          <p:nvSpPr>
            <p:cNvPr id="57" name="Google Shape;95;p13">
              <a:extLst>
                <a:ext uri="{FF2B5EF4-FFF2-40B4-BE49-F238E27FC236}">
                  <a16:creationId xmlns:a16="http://schemas.microsoft.com/office/drawing/2014/main" id="{599600EC-88A3-36C8-8F69-9C037B054AB1}"/>
                </a:ext>
              </a:extLst>
            </p:cNvPr>
            <p:cNvSpPr/>
            <p:nvPr/>
          </p:nvSpPr>
          <p:spPr>
            <a:xfrm>
              <a:off x="6007217" y="2228460"/>
              <a:ext cx="1872000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Unique records</a:t>
              </a:r>
              <a:endParaRPr lang="en-GB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(n = 1,307)</a:t>
              </a:r>
            </a:p>
          </p:txBody>
        </p:sp>
        <p:sp>
          <p:nvSpPr>
            <p:cNvPr id="58" name="Google Shape;98;p13">
              <a:extLst>
                <a:ext uri="{FF2B5EF4-FFF2-40B4-BE49-F238E27FC236}">
                  <a16:creationId xmlns:a16="http://schemas.microsoft.com/office/drawing/2014/main" id="{563A974D-E767-7090-CE35-5AF4658DD4DB}"/>
                </a:ext>
              </a:extLst>
            </p:cNvPr>
            <p:cNvSpPr/>
            <p:nvPr/>
          </p:nvSpPr>
          <p:spPr>
            <a:xfrm>
              <a:off x="6020866" y="5094530"/>
              <a:ext cx="1872000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Studies screened at full text</a:t>
              </a:r>
              <a:endParaRPr lang="en-US"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1,297)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119;p13">
              <a:extLst>
                <a:ext uri="{FF2B5EF4-FFF2-40B4-BE49-F238E27FC236}">
                  <a16:creationId xmlns:a16="http://schemas.microsoft.com/office/drawing/2014/main" id="{9CE65F6D-5DE1-C096-46A0-CF2E0DE639DB}"/>
                </a:ext>
              </a:extLst>
            </p:cNvPr>
            <p:cNvCxnSpPr>
              <a:cxnSpLocks/>
              <a:stCxn id="57" idx="2"/>
              <a:endCxn id="58" idx="0"/>
            </p:cNvCxnSpPr>
            <p:nvPr/>
          </p:nvCxnSpPr>
          <p:spPr>
            <a:xfrm>
              <a:off x="6943217" y="3170570"/>
              <a:ext cx="13649" cy="192396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1" name="Google Shape;95;p13">
              <a:extLst>
                <a:ext uri="{FF2B5EF4-FFF2-40B4-BE49-F238E27FC236}">
                  <a16:creationId xmlns:a16="http://schemas.microsoft.com/office/drawing/2014/main" id="{09709DC9-9F41-05BC-E55F-411633A4F308}"/>
                </a:ext>
              </a:extLst>
            </p:cNvPr>
            <p:cNvSpPr/>
            <p:nvPr/>
          </p:nvSpPr>
          <p:spPr>
            <a:xfrm>
              <a:off x="8246092" y="767241"/>
              <a:ext cx="972000" cy="97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Removed:  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Duplicate records   (n = 286)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6FBEC17-31A8-8536-CCDA-B467B61B4EDA}"/>
                </a:ext>
              </a:extLst>
            </p:cNvPr>
            <p:cNvCxnSpPr>
              <a:cxnSpLocks/>
              <a:stCxn id="56" idx="3"/>
              <a:endCxn id="61" idx="1"/>
            </p:cNvCxnSpPr>
            <p:nvPr/>
          </p:nvCxnSpPr>
          <p:spPr>
            <a:xfrm flipV="1">
              <a:off x="7986035" y="1253241"/>
              <a:ext cx="260057" cy="1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Google Shape;95;p13">
              <a:extLst>
                <a:ext uri="{FF2B5EF4-FFF2-40B4-BE49-F238E27FC236}">
                  <a16:creationId xmlns:a16="http://schemas.microsoft.com/office/drawing/2014/main" id="{434797D9-73BC-777B-406C-6C31EFB810E7}"/>
                </a:ext>
              </a:extLst>
            </p:cNvPr>
            <p:cNvSpPr/>
            <p:nvPr/>
          </p:nvSpPr>
          <p:spPr>
            <a:xfrm>
              <a:off x="8167564" y="5116870"/>
              <a:ext cx="1224000" cy="900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Unretrievable full texts:</a:t>
              </a:r>
            </a:p>
            <a:p>
              <a:pPr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 accessible (n = 10)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00B16F8-2240-F654-19C1-F7FCDD491BC9}"/>
                </a:ext>
              </a:extLst>
            </p:cNvPr>
            <p:cNvCxnSpPr>
              <a:cxnSpLocks/>
              <a:stCxn id="58" idx="3"/>
              <a:endCxn id="63" idx="1"/>
            </p:cNvCxnSpPr>
            <p:nvPr/>
          </p:nvCxnSpPr>
          <p:spPr>
            <a:xfrm>
              <a:off x="7892866" y="5565585"/>
              <a:ext cx="274698" cy="12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797DD5-1DA6-40EB-CEB4-67DCD1E9FB85}"/>
              </a:ext>
            </a:extLst>
          </p:cNvPr>
          <p:cNvGrpSpPr/>
          <p:nvPr/>
        </p:nvGrpSpPr>
        <p:grpSpPr>
          <a:xfrm>
            <a:off x="4550204" y="669808"/>
            <a:ext cx="3622644" cy="5365551"/>
            <a:chOff x="5158505" y="669808"/>
            <a:chExt cx="3622644" cy="536555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49AAED6-4EB5-DA6D-2A12-87CABC52A128}"/>
                </a:ext>
              </a:extLst>
            </p:cNvPr>
            <p:cNvGrpSpPr/>
            <p:nvPr/>
          </p:nvGrpSpPr>
          <p:grpSpPr>
            <a:xfrm>
              <a:off x="5158505" y="669808"/>
              <a:ext cx="3497195" cy="3804914"/>
              <a:chOff x="5898035" y="660529"/>
              <a:chExt cx="3497195" cy="3804914"/>
            </a:xfrm>
          </p:grpSpPr>
          <p:sp>
            <p:nvSpPr>
              <p:cNvPr id="45" name="Google Shape;93;p13">
                <a:extLst>
                  <a:ext uri="{FF2B5EF4-FFF2-40B4-BE49-F238E27FC236}">
                    <a16:creationId xmlns:a16="http://schemas.microsoft.com/office/drawing/2014/main" id="{F5130A0E-D2FF-B65A-FFB6-6A97417FE0FD}"/>
                  </a:ext>
                </a:extLst>
              </p:cNvPr>
              <p:cNvSpPr/>
              <p:nvPr/>
            </p:nvSpPr>
            <p:spPr>
              <a:xfrm>
                <a:off x="5898035" y="660529"/>
                <a:ext cx="2340000" cy="1188000"/>
              </a:xfrm>
              <a:prstGeom prst="rect">
                <a:avLst/>
              </a:prstGeom>
              <a:noFill/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GB" sz="15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Search date: 25/01/2023</a:t>
                </a:r>
              </a:p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/>
                    <a:cs typeface="Calibri"/>
                    <a:sym typeface="Calibri"/>
                  </a:rPr>
                  <a:t>Scopus </a:t>
                </a:r>
                <a:r>
                  <a:rPr lang="en-GB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(n = 7,443)</a:t>
                </a:r>
              </a:p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Web of Science (n = 7,252)</a:t>
                </a:r>
              </a:p>
            </p:txBody>
          </p:sp>
          <p:sp>
            <p:nvSpPr>
              <p:cNvPr id="47" name="Google Shape;98;p13">
                <a:extLst>
                  <a:ext uri="{FF2B5EF4-FFF2-40B4-BE49-F238E27FC236}">
                    <a16:creationId xmlns:a16="http://schemas.microsoft.com/office/drawing/2014/main" id="{29E8C1F8-E771-179C-A5BE-F25AA0260C5A}"/>
                  </a:ext>
                </a:extLst>
              </p:cNvPr>
              <p:cNvSpPr/>
              <p:nvPr/>
            </p:nvSpPr>
            <p:spPr>
              <a:xfrm>
                <a:off x="6143693" y="3523333"/>
                <a:ext cx="1872000" cy="942110"/>
              </a:xfrm>
              <a:prstGeom prst="rect">
                <a:avLst/>
              </a:prstGeom>
              <a:noFill/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Records after abstract screening</a:t>
                </a:r>
                <a:endParaRPr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(n = 269)</a:t>
                </a:r>
                <a:endParaRPr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9" name="Google Shape;119;p13">
                <a:extLst>
                  <a:ext uri="{FF2B5EF4-FFF2-40B4-BE49-F238E27FC236}">
                    <a16:creationId xmlns:a16="http://schemas.microsoft.com/office/drawing/2014/main" id="{AFD81EE1-9604-0D32-BD1A-0BC770F51DC4}"/>
                  </a:ext>
                </a:extLst>
              </p:cNvPr>
              <p:cNvCxnSpPr>
                <a:cxnSpLocks/>
                <a:stCxn id="46" idx="2"/>
                <a:endCxn id="47" idx="0"/>
              </p:cNvCxnSpPr>
              <p:nvPr/>
            </p:nvCxnSpPr>
            <p:spPr>
              <a:xfrm flipH="1">
                <a:off x="7079693" y="3143274"/>
                <a:ext cx="5" cy="3800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50" name="Google Shape;95;p13">
                <a:extLst>
                  <a:ext uri="{FF2B5EF4-FFF2-40B4-BE49-F238E27FC236}">
                    <a16:creationId xmlns:a16="http://schemas.microsoft.com/office/drawing/2014/main" id="{77E24C02-7524-B6A8-B7FC-7CF100243129}"/>
                  </a:ext>
                </a:extLst>
              </p:cNvPr>
              <p:cNvSpPr/>
              <p:nvPr/>
            </p:nvSpPr>
            <p:spPr>
              <a:xfrm>
                <a:off x="8423230" y="767241"/>
                <a:ext cx="972000" cy="972000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Removed:   </a:t>
                </a:r>
                <a:r>
                  <a:rPr lang="en-A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Duplicated  records   (n = 8,558)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8EFCA877-28B5-3136-28D1-0774F29B5063}"/>
                  </a:ext>
                </a:extLst>
              </p:cNvPr>
              <p:cNvCxnSpPr>
                <a:cxnSpLocks/>
                <a:stCxn id="45" idx="3"/>
                <a:endCxn id="50" idx="1"/>
              </p:cNvCxnSpPr>
              <p:nvPr/>
            </p:nvCxnSpPr>
            <p:spPr>
              <a:xfrm flipV="1">
                <a:off x="8238035" y="1253241"/>
                <a:ext cx="185195" cy="12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Google Shape;95;p13">
                <a:extLst>
                  <a:ext uri="{FF2B5EF4-FFF2-40B4-BE49-F238E27FC236}">
                    <a16:creationId xmlns:a16="http://schemas.microsoft.com/office/drawing/2014/main" id="{F6586017-A667-BA1A-D417-DC13B80C52FA}"/>
                  </a:ext>
                </a:extLst>
              </p:cNvPr>
              <p:cNvSpPr/>
              <p:nvPr/>
            </p:nvSpPr>
            <p:spPr>
              <a:xfrm>
                <a:off x="8232478" y="3593272"/>
                <a:ext cx="972000" cy="792000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AU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Excluded abstracts </a:t>
                </a:r>
                <a:r>
                  <a:rPr lang="en-A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(n = 5,868)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E8ABDA5-3496-9ECC-2C9A-BF2427AF5BE1}"/>
                  </a:ext>
                </a:extLst>
              </p:cNvPr>
              <p:cNvCxnSpPr>
                <a:stCxn id="47" idx="3"/>
                <a:endCxn id="52" idx="1"/>
              </p:cNvCxnSpPr>
              <p:nvPr/>
            </p:nvCxnSpPr>
            <p:spPr>
              <a:xfrm flipV="1">
                <a:off x="8015693" y="3989272"/>
                <a:ext cx="216785" cy="51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Google Shape;95;p13">
                <a:extLst>
                  <a:ext uri="{FF2B5EF4-FFF2-40B4-BE49-F238E27FC236}">
                    <a16:creationId xmlns:a16="http://schemas.microsoft.com/office/drawing/2014/main" id="{AFE60E19-598B-71A8-092D-400D73FE2B9D}"/>
                  </a:ext>
                </a:extLst>
              </p:cNvPr>
              <p:cNvSpPr/>
              <p:nvPr/>
            </p:nvSpPr>
            <p:spPr>
              <a:xfrm>
                <a:off x="6143698" y="2201164"/>
                <a:ext cx="1872000" cy="942110"/>
              </a:xfrm>
              <a:prstGeom prst="rect">
                <a:avLst/>
              </a:prstGeom>
              <a:noFill/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Unique records</a:t>
                </a:r>
                <a:endParaRPr lang="en-GB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GB" sz="15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(n = 6,137)</a:t>
                </a:r>
              </a:p>
            </p:txBody>
          </p:sp>
        </p:grpSp>
        <p:sp>
          <p:nvSpPr>
            <p:cNvPr id="18" name="Google Shape;100;p13">
              <a:extLst>
                <a:ext uri="{FF2B5EF4-FFF2-40B4-BE49-F238E27FC236}">
                  <a16:creationId xmlns:a16="http://schemas.microsoft.com/office/drawing/2014/main" id="{26233A0C-0453-3925-79CE-AC739CC88A1D}"/>
                </a:ext>
              </a:extLst>
            </p:cNvPr>
            <p:cNvSpPr/>
            <p:nvPr/>
          </p:nvSpPr>
          <p:spPr>
            <a:xfrm>
              <a:off x="5410922" y="5093249"/>
              <a:ext cx="1872001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Studies screened at full text</a:t>
              </a:r>
              <a:endParaRPr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260)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05;p13">
              <a:extLst>
                <a:ext uri="{FF2B5EF4-FFF2-40B4-BE49-F238E27FC236}">
                  <a16:creationId xmlns:a16="http://schemas.microsoft.com/office/drawing/2014/main" id="{DA0ACD98-07EA-1B70-2972-9DCC5979BE11}"/>
                </a:ext>
              </a:extLst>
            </p:cNvPr>
            <p:cNvSpPr/>
            <p:nvPr/>
          </p:nvSpPr>
          <p:spPr>
            <a:xfrm>
              <a:off x="7557149" y="5110735"/>
              <a:ext cx="1224000" cy="900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Unretrievable full texts:</a:t>
              </a:r>
            </a:p>
            <a:p>
              <a:pPr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 accessible (n = 9)</a:t>
              </a:r>
            </a:p>
          </p:txBody>
        </p:sp>
        <p:cxnSp>
          <p:nvCxnSpPr>
            <p:cNvPr id="20" name="Google Shape;120;p13">
              <a:extLst>
                <a:ext uri="{FF2B5EF4-FFF2-40B4-BE49-F238E27FC236}">
                  <a16:creationId xmlns:a16="http://schemas.microsoft.com/office/drawing/2014/main" id="{053DB0FB-A4EF-09FF-E0C4-401E158E397D}"/>
                </a:ext>
              </a:extLst>
            </p:cNvPr>
            <p:cNvCxnSpPr>
              <a:cxnSpLocks/>
              <a:stCxn id="47" idx="2"/>
              <a:endCxn id="18" idx="0"/>
            </p:cNvCxnSpPr>
            <p:nvPr/>
          </p:nvCxnSpPr>
          <p:spPr>
            <a:xfrm>
              <a:off x="6340163" y="4474722"/>
              <a:ext cx="6760" cy="61852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" name="Google Shape;117;p13">
              <a:extLst>
                <a:ext uri="{FF2B5EF4-FFF2-40B4-BE49-F238E27FC236}">
                  <a16:creationId xmlns:a16="http://schemas.microsoft.com/office/drawing/2014/main" id="{533629B9-6C8F-1CAF-6898-E528FB242335}"/>
                </a:ext>
              </a:extLst>
            </p:cNvPr>
            <p:cNvCxnSpPr>
              <a:cxnSpLocks/>
              <a:stCxn id="18" idx="3"/>
              <a:endCxn id="19" idx="1"/>
            </p:cNvCxnSpPr>
            <p:nvPr/>
          </p:nvCxnSpPr>
          <p:spPr>
            <a:xfrm flipV="1">
              <a:off x="7282923" y="5560735"/>
              <a:ext cx="274226" cy="356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cxnSp>
        <p:nvCxnSpPr>
          <p:cNvPr id="31" name="Google Shape;119;p13">
            <a:extLst>
              <a:ext uri="{FF2B5EF4-FFF2-40B4-BE49-F238E27FC236}">
                <a16:creationId xmlns:a16="http://schemas.microsoft.com/office/drawing/2014/main" id="{8DD02BAD-2B81-413E-7CF5-AEF4653ED276}"/>
              </a:ext>
            </a:extLst>
          </p:cNvPr>
          <p:cNvCxnSpPr>
            <a:cxnSpLocks/>
            <a:stCxn id="93" idx="2"/>
            <a:endCxn id="95" idx="0"/>
          </p:cNvCxnSpPr>
          <p:nvPr/>
        </p:nvCxnSpPr>
        <p:spPr>
          <a:xfrm>
            <a:off x="2147224" y="1875807"/>
            <a:ext cx="2369" cy="33045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" name="Google Shape;119;p13">
            <a:extLst>
              <a:ext uri="{FF2B5EF4-FFF2-40B4-BE49-F238E27FC236}">
                <a16:creationId xmlns:a16="http://schemas.microsoft.com/office/drawing/2014/main" id="{35C8C153-CB1F-5811-D117-81C5B465A44B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5720204" y="1857808"/>
            <a:ext cx="11663" cy="35263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0" name="Google Shape;119;p13">
            <a:extLst>
              <a:ext uri="{FF2B5EF4-FFF2-40B4-BE49-F238E27FC236}">
                <a16:creationId xmlns:a16="http://schemas.microsoft.com/office/drawing/2014/main" id="{5D793319-DAE5-B329-7F77-9CC55DE4D6F3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9226649" y="1829842"/>
            <a:ext cx="1182" cy="37993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DFB632-697D-4530-A588-E7D396F8FEFE}"/>
              </a:ext>
            </a:extLst>
          </p:cNvPr>
          <p:cNvGrpSpPr/>
          <p:nvPr/>
        </p:nvGrpSpPr>
        <p:grpSpPr>
          <a:xfrm>
            <a:off x="11548415" y="649686"/>
            <a:ext cx="3537141" cy="5368103"/>
            <a:chOff x="995224" y="687807"/>
            <a:chExt cx="3537141" cy="5368103"/>
          </a:xfrm>
        </p:grpSpPr>
        <p:sp>
          <p:nvSpPr>
            <p:cNvPr id="3" name="Google Shape;93;p13">
              <a:extLst>
                <a:ext uri="{FF2B5EF4-FFF2-40B4-BE49-F238E27FC236}">
                  <a16:creationId xmlns:a16="http://schemas.microsoft.com/office/drawing/2014/main" id="{5FF80CEB-9097-C3CB-B59C-4D45FADB8444}"/>
                </a:ext>
              </a:extLst>
            </p:cNvPr>
            <p:cNvSpPr/>
            <p:nvPr/>
          </p:nvSpPr>
          <p:spPr>
            <a:xfrm>
              <a:off x="995224" y="687807"/>
              <a:ext cx="2304000" cy="118800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Search date: 06/12/2023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Scopus </a:t>
              </a:r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=9,167)</a:t>
              </a: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Web of Science (n = 8,379)</a:t>
              </a:r>
            </a:p>
          </p:txBody>
        </p:sp>
        <p:sp>
          <p:nvSpPr>
            <p:cNvPr id="4" name="Google Shape;95;p13">
              <a:extLst>
                <a:ext uri="{FF2B5EF4-FFF2-40B4-BE49-F238E27FC236}">
                  <a16:creationId xmlns:a16="http://schemas.microsoft.com/office/drawing/2014/main" id="{183F70E8-DFD7-93BD-8F65-C5C03E72C10A}"/>
                </a:ext>
              </a:extLst>
            </p:cNvPr>
            <p:cNvSpPr/>
            <p:nvPr/>
          </p:nvSpPr>
          <p:spPr>
            <a:xfrm>
              <a:off x="1213593" y="2247206"/>
              <a:ext cx="1872000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Unique records</a:t>
              </a:r>
              <a:endParaRPr lang="en-GB"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1,901)</a:t>
              </a:r>
            </a:p>
          </p:txBody>
        </p:sp>
        <p:sp>
          <p:nvSpPr>
            <p:cNvPr id="5" name="Google Shape;98;p13">
              <a:extLst>
                <a:ext uri="{FF2B5EF4-FFF2-40B4-BE49-F238E27FC236}">
                  <a16:creationId xmlns:a16="http://schemas.microsoft.com/office/drawing/2014/main" id="{B1A33A76-B8F3-9C71-8EC9-D0CFD31BC8CD}"/>
                </a:ext>
              </a:extLst>
            </p:cNvPr>
            <p:cNvSpPr/>
            <p:nvPr/>
          </p:nvSpPr>
          <p:spPr>
            <a:xfrm>
              <a:off x="1211976" y="3523316"/>
              <a:ext cx="1872000" cy="113649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Records after title/abstract screening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257)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00;p13">
              <a:extLst>
                <a:ext uri="{FF2B5EF4-FFF2-40B4-BE49-F238E27FC236}">
                  <a16:creationId xmlns:a16="http://schemas.microsoft.com/office/drawing/2014/main" id="{22CF2E3A-D43D-07D4-85A5-A1B59D78D2A3}"/>
                </a:ext>
              </a:extLst>
            </p:cNvPr>
            <p:cNvSpPr/>
            <p:nvPr/>
          </p:nvSpPr>
          <p:spPr>
            <a:xfrm>
              <a:off x="1209431" y="5113800"/>
              <a:ext cx="1872001" cy="942110"/>
            </a:xfrm>
            <a:prstGeom prst="rect">
              <a:avLst/>
            </a:prstGeom>
            <a:noFill/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Studies screened at full text</a:t>
              </a:r>
              <a:endParaRPr sz="1500" dirty="0"/>
            </a:p>
            <a:p>
              <a:pPr algn="ctr"/>
              <a:r>
                <a:rPr lang="en-GB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(n = 252)</a:t>
              </a:r>
              <a:endParaRPr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05;p13">
              <a:extLst>
                <a:ext uri="{FF2B5EF4-FFF2-40B4-BE49-F238E27FC236}">
                  <a16:creationId xmlns:a16="http://schemas.microsoft.com/office/drawing/2014/main" id="{560711AA-2DF4-7293-9E1D-67D7BD43C200}"/>
                </a:ext>
              </a:extLst>
            </p:cNvPr>
            <p:cNvSpPr/>
            <p:nvPr/>
          </p:nvSpPr>
          <p:spPr>
            <a:xfrm>
              <a:off x="3308365" y="5128303"/>
              <a:ext cx="1224000" cy="900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GB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Unretrievable full texts:</a:t>
              </a:r>
            </a:p>
            <a:p>
              <a:pPr algn="ctr"/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 accessible (n = 5)</a:t>
              </a:r>
            </a:p>
          </p:txBody>
        </p:sp>
        <p:cxnSp>
          <p:nvCxnSpPr>
            <p:cNvPr id="8" name="Google Shape;117;p13">
              <a:extLst>
                <a:ext uri="{FF2B5EF4-FFF2-40B4-BE49-F238E27FC236}">
                  <a16:creationId xmlns:a16="http://schemas.microsoft.com/office/drawing/2014/main" id="{1B7B2465-C517-105B-EBDD-9BB43B58C95F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 flipV="1">
              <a:off x="3081432" y="5578303"/>
              <a:ext cx="226933" cy="6552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" name="Google Shape;119;p13">
              <a:extLst>
                <a:ext uri="{FF2B5EF4-FFF2-40B4-BE49-F238E27FC236}">
                  <a16:creationId xmlns:a16="http://schemas.microsoft.com/office/drawing/2014/main" id="{8565018D-0782-F7DF-BF71-A48036E257DA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2147976" y="3189316"/>
              <a:ext cx="1617" cy="334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0" name="Google Shape;120;p13">
              <a:extLst>
                <a:ext uri="{FF2B5EF4-FFF2-40B4-BE49-F238E27FC236}">
                  <a16:creationId xmlns:a16="http://schemas.microsoft.com/office/drawing/2014/main" id="{EE24394A-2AA6-5704-4663-AB3A3BF7A4CC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2145432" y="4659806"/>
              <a:ext cx="2544" cy="45399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" name="Google Shape;95;p13">
              <a:extLst>
                <a:ext uri="{FF2B5EF4-FFF2-40B4-BE49-F238E27FC236}">
                  <a16:creationId xmlns:a16="http://schemas.microsoft.com/office/drawing/2014/main" id="{3404AE3C-5BD6-0F75-269E-E7060221885C}"/>
                </a:ext>
              </a:extLst>
            </p:cNvPr>
            <p:cNvSpPr/>
            <p:nvPr/>
          </p:nvSpPr>
          <p:spPr>
            <a:xfrm>
              <a:off x="3474621" y="796938"/>
              <a:ext cx="1057743" cy="97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Removed:  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Duplicated records     (n = 15,645)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6B943ED-2DF0-D51E-4D4C-5A67C02C46A3}"/>
                </a:ext>
              </a:extLst>
            </p:cNvPr>
            <p:cNvCxnSpPr>
              <a:cxnSpLocks/>
              <a:stCxn id="3" idx="3"/>
              <a:endCxn id="11" idx="1"/>
            </p:cNvCxnSpPr>
            <p:nvPr/>
          </p:nvCxnSpPr>
          <p:spPr>
            <a:xfrm>
              <a:off x="3299224" y="1281807"/>
              <a:ext cx="175397" cy="11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oogle Shape;95;p13">
              <a:extLst>
                <a:ext uri="{FF2B5EF4-FFF2-40B4-BE49-F238E27FC236}">
                  <a16:creationId xmlns:a16="http://schemas.microsoft.com/office/drawing/2014/main" id="{07871D0F-52D6-A0AC-2385-5D5AF53C63F3}"/>
                </a:ext>
              </a:extLst>
            </p:cNvPr>
            <p:cNvSpPr/>
            <p:nvPr/>
          </p:nvSpPr>
          <p:spPr>
            <a:xfrm>
              <a:off x="3360289" y="3694739"/>
              <a:ext cx="972000" cy="792000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tx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AU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Excluded abstracts </a:t>
              </a:r>
              <a:r>
                <a:rPr lang="en-A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(n = 1,644)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7FCF35-418B-8B04-3011-B391CD99F195}"/>
                </a:ext>
              </a:extLst>
            </p:cNvPr>
            <p:cNvCxnSpPr>
              <a:cxnSpLocks/>
              <a:stCxn id="5" idx="3"/>
              <a:endCxn id="13" idx="1"/>
            </p:cNvCxnSpPr>
            <p:nvPr/>
          </p:nvCxnSpPr>
          <p:spPr>
            <a:xfrm flipV="1">
              <a:off x="3083976" y="4090739"/>
              <a:ext cx="276313" cy="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70A547-7C11-F9D1-D98B-4C64CC7895EC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12700415" y="1837686"/>
            <a:ext cx="2369" cy="37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101;p13">
            <a:extLst>
              <a:ext uri="{FF2B5EF4-FFF2-40B4-BE49-F238E27FC236}">
                <a16:creationId xmlns:a16="http://schemas.microsoft.com/office/drawing/2014/main" id="{12D30D37-F6CF-7FB9-8FFF-32E4C0F47E2D}"/>
              </a:ext>
            </a:extLst>
          </p:cNvPr>
          <p:cNvSpPr/>
          <p:nvPr/>
        </p:nvSpPr>
        <p:spPr>
          <a:xfrm>
            <a:off x="4693760" y="6490185"/>
            <a:ext cx="2088000" cy="115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review after full-text screening</a:t>
            </a:r>
          </a:p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25)</a:t>
            </a:r>
          </a:p>
        </p:txBody>
      </p:sp>
      <p:sp>
        <p:nvSpPr>
          <p:cNvPr id="32" name="Google Shape;101;p13">
            <a:extLst>
              <a:ext uri="{FF2B5EF4-FFF2-40B4-BE49-F238E27FC236}">
                <a16:creationId xmlns:a16="http://schemas.microsoft.com/office/drawing/2014/main" id="{63E34637-B8B1-AD81-0E50-C9286FA12910}"/>
              </a:ext>
            </a:extLst>
          </p:cNvPr>
          <p:cNvSpPr/>
          <p:nvPr/>
        </p:nvSpPr>
        <p:spPr>
          <a:xfrm>
            <a:off x="8202786" y="6536214"/>
            <a:ext cx="2088000" cy="115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review after full-text screening</a:t>
            </a:r>
          </a:p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100)</a:t>
            </a:r>
          </a:p>
        </p:txBody>
      </p:sp>
      <p:sp>
        <p:nvSpPr>
          <p:cNvPr id="33" name="Google Shape;101;p13">
            <a:extLst>
              <a:ext uri="{FF2B5EF4-FFF2-40B4-BE49-F238E27FC236}">
                <a16:creationId xmlns:a16="http://schemas.microsoft.com/office/drawing/2014/main" id="{ED53361B-7E69-2DE6-FC2E-A98E89EFA042}"/>
              </a:ext>
            </a:extLst>
          </p:cNvPr>
          <p:cNvSpPr/>
          <p:nvPr/>
        </p:nvSpPr>
        <p:spPr>
          <a:xfrm>
            <a:off x="11664646" y="6536214"/>
            <a:ext cx="2088000" cy="1152000"/>
          </a:xfrm>
          <a:prstGeom prst="rect">
            <a:avLst/>
          </a:prstGeom>
          <a:noFill/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Studies included in the review after full-text screening</a:t>
            </a:r>
          </a:p>
          <a:p>
            <a:pPr algn="ctr"/>
            <a:r>
              <a:rPr 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= 32)</a:t>
            </a:r>
          </a:p>
        </p:txBody>
      </p:sp>
      <p:sp>
        <p:nvSpPr>
          <p:cNvPr id="36" name="Google Shape;101;p13">
            <a:extLst>
              <a:ext uri="{FF2B5EF4-FFF2-40B4-BE49-F238E27FC236}">
                <a16:creationId xmlns:a16="http://schemas.microsoft.com/office/drawing/2014/main" id="{49844888-E4E1-F2BF-E0D2-1751D0076FE0}"/>
              </a:ext>
            </a:extLst>
          </p:cNvPr>
          <p:cNvSpPr/>
          <p:nvPr/>
        </p:nvSpPr>
        <p:spPr>
          <a:xfrm>
            <a:off x="5899843" y="10670205"/>
            <a:ext cx="3641180" cy="11520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Total studies | models included in the evidence map after full-text screening</a:t>
            </a:r>
          </a:p>
          <a:p>
            <a:pPr algn="ctr"/>
            <a:r>
              <a:rPr lang="en-US" sz="1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(n = 193 | 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E974FB-EC93-8536-725F-53ACDD720A3F}"/>
              </a:ext>
            </a:extLst>
          </p:cNvPr>
          <p:cNvCxnSpPr>
            <a:stCxn id="100" idx="2"/>
            <a:endCxn id="101" idx="0"/>
          </p:cNvCxnSpPr>
          <p:nvPr/>
        </p:nvCxnSpPr>
        <p:spPr>
          <a:xfrm flipH="1">
            <a:off x="2144570" y="6055910"/>
            <a:ext cx="862" cy="43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B6DDA6F-E09A-09D2-2545-71F7DB0BC0F9}"/>
              </a:ext>
            </a:extLst>
          </p:cNvPr>
          <p:cNvCxnSpPr>
            <a:stCxn id="18" idx="2"/>
            <a:endCxn id="30" idx="0"/>
          </p:cNvCxnSpPr>
          <p:nvPr/>
        </p:nvCxnSpPr>
        <p:spPr>
          <a:xfrm flipH="1">
            <a:off x="5737760" y="6035359"/>
            <a:ext cx="862" cy="454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DF26139-0FF1-1B67-8937-075EF93AEBE5}"/>
              </a:ext>
            </a:extLst>
          </p:cNvPr>
          <p:cNvCxnSpPr>
            <a:stCxn id="58" idx="2"/>
            <a:endCxn id="32" idx="0"/>
          </p:cNvCxnSpPr>
          <p:nvPr/>
        </p:nvCxnSpPr>
        <p:spPr>
          <a:xfrm>
            <a:off x="9241480" y="6017953"/>
            <a:ext cx="5306" cy="518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498C95A-E295-52FA-C487-39679D173CB5}"/>
              </a:ext>
            </a:extLst>
          </p:cNvPr>
          <p:cNvCxnSpPr>
            <a:stCxn id="6" idx="2"/>
            <a:endCxn id="33" idx="0"/>
          </p:cNvCxnSpPr>
          <p:nvPr/>
        </p:nvCxnSpPr>
        <p:spPr>
          <a:xfrm>
            <a:off x="12698623" y="6017789"/>
            <a:ext cx="10023" cy="518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87F0E0-24F7-642E-05CF-F71CA1BBCCE2}"/>
              </a:ext>
            </a:extLst>
          </p:cNvPr>
          <p:cNvCxnSpPr>
            <a:stCxn id="95" idx="3"/>
            <a:endCxn id="46" idx="1"/>
          </p:cNvCxnSpPr>
          <p:nvPr/>
        </p:nvCxnSpPr>
        <p:spPr>
          <a:xfrm>
            <a:off x="3085593" y="2677317"/>
            <a:ext cx="1710274" cy="4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E03CA8-540A-5C55-8EFD-089691A51696}"/>
              </a:ext>
            </a:extLst>
          </p:cNvPr>
          <p:cNvCxnSpPr>
            <a:stCxn id="46" idx="3"/>
            <a:endCxn id="57" idx="1"/>
          </p:cNvCxnSpPr>
          <p:nvPr/>
        </p:nvCxnSpPr>
        <p:spPr>
          <a:xfrm flipV="1">
            <a:off x="6667867" y="2680828"/>
            <a:ext cx="1623964" cy="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A0850A0-3D5A-1243-D924-7095C147E708}"/>
              </a:ext>
            </a:extLst>
          </p:cNvPr>
          <p:cNvCxnSpPr>
            <a:stCxn id="57" idx="3"/>
            <a:endCxn id="4" idx="1"/>
          </p:cNvCxnSpPr>
          <p:nvPr/>
        </p:nvCxnSpPr>
        <p:spPr>
          <a:xfrm flipV="1">
            <a:off x="10163831" y="2680140"/>
            <a:ext cx="1602953" cy="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5A41D28-C6AF-F50D-FA3F-BCCA0318ED0B}"/>
              </a:ext>
            </a:extLst>
          </p:cNvPr>
          <p:cNvCxnSpPr>
            <a:cxnSpLocks/>
            <a:stCxn id="4" idx="3"/>
            <a:endCxn id="67" idx="1"/>
          </p:cNvCxnSpPr>
          <p:nvPr/>
        </p:nvCxnSpPr>
        <p:spPr>
          <a:xfrm flipV="1">
            <a:off x="13638784" y="2673753"/>
            <a:ext cx="389029" cy="6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Google Shape;95;p13">
            <a:extLst>
              <a:ext uri="{FF2B5EF4-FFF2-40B4-BE49-F238E27FC236}">
                <a16:creationId xmlns:a16="http://schemas.microsoft.com/office/drawing/2014/main" id="{B68F66DD-7073-2092-78B1-BE631A83F9AB}"/>
              </a:ext>
            </a:extLst>
          </p:cNvPr>
          <p:cNvSpPr/>
          <p:nvPr/>
        </p:nvSpPr>
        <p:spPr>
          <a:xfrm>
            <a:off x="14027813" y="2202698"/>
            <a:ext cx="1305333" cy="94211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5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Total unique records</a:t>
            </a:r>
            <a:endParaRPr lang="en-GB" sz="1500" b="1" dirty="0">
              <a:solidFill>
                <a:schemeClr val="bg1"/>
              </a:solidFill>
            </a:endParaRPr>
          </a:p>
          <a:p>
            <a:pPr algn="ctr"/>
            <a:r>
              <a:rPr lang="en-GB" sz="15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(n = 12,945)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63F7EC-6DD3-2A7C-3BB9-7231E46A6381}"/>
              </a:ext>
            </a:extLst>
          </p:cNvPr>
          <p:cNvCxnSpPr>
            <a:cxnSpLocks/>
          </p:cNvCxnSpPr>
          <p:nvPr/>
        </p:nvCxnSpPr>
        <p:spPr>
          <a:xfrm>
            <a:off x="2136015" y="8236053"/>
            <a:ext cx="10770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1B5692-BADC-E52D-62C4-CF68F92FC42D}"/>
              </a:ext>
            </a:extLst>
          </p:cNvPr>
          <p:cNvCxnSpPr>
            <a:cxnSpLocks/>
          </p:cNvCxnSpPr>
          <p:nvPr/>
        </p:nvCxnSpPr>
        <p:spPr>
          <a:xfrm>
            <a:off x="2136015" y="7649040"/>
            <a:ext cx="8555" cy="587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5C34C6E-0022-3B8C-12F3-BCD8039E5FE1}"/>
              </a:ext>
            </a:extLst>
          </p:cNvPr>
          <p:cNvCxnSpPr>
            <a:cxnSpLocks/>
          </p:cNvCxnSpPr>
          <p:nvPr/>
        </p:nvCxnSpPr>
        <p:spPr>
          <a:xfrm>
            <a:off x="5738621" y="7638997"/>
            <a:ext cx="8555" cy="587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D5A04A3-3FD9-70D8-1AF4-2B9FCFFF9AED}"/>
              </a:ext>
            </a:extLst>
          </p:cNvPr>
          <p:cNvCxnSpPr>
            <a:cxnSpLocks/>
          </p:cNvCxnSpPr>
          <p:nvPr/>
        </p:nvCxnSpPr>
        <p:spPr>
          <a:xfrm>
            <a:off x="9328104" y="7688214"/>
            <a:ext cx="0" cy="54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DB6A3AE-2A1B-6E76-FA69-7D9A2A704A71}"/>
              </a:ext>
            </a:extLst>
          </p:cNvPr>
          <p:cNvCxnSpPr>
            <a:cxnSpLocks/>
          </p:cNvCxnSpPr>
          <p:nvPr/>
        </p:nvCxnSpPr>
        <p:spPr>
          <a:xfrm>
            <a:off x="12897548" y="7675660"/>
            <a:ext cx="8555" cy="587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59A2F1C-45E2-4F20-7F81-7CD2EE61C33F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7720433" y="8262673"/>
            <a:ext cx="0" cy="2407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6161525-418C-5AB6-A997-74ADBE8F064F}"/>
              </a:ext>
            </a:extLst>
          </p:cNvPr>
          <p:cNvCxnSpPr>
            <a:cxnSpLocks/>
          </p:cNvCxnSpPr>
          <p:nvPr/>
        </p:nvCxnSpPr>
        <p:spPr>
          <a:xfrm>
            <a:off x="7722983" y="9379268"/>
            <a:ext cx="2656421" cy="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02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3732</TotalTime>
  <Words>947</Words>
  <Application>Microsoft Office PowerPoint</Application>
  <PresentationFormat>Custom</PresentationFormat>
  <Paragraphs>150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Sanchez, Andrea Cecilia (Alliance Bioversity-CIAT)</dc:creator>
  <cp:lastModifiedBy>Sanchez, Andrea Cecilia (Alliance Bioversity-CIAT)</cp:lastModifiedBy>
  <cp:revision>7</cp:revision>
  <dcterms:modified xsi:type="dcterms:W3CDTF">2024-11-29T17:26:17Z</dcterms:modified>
</cp:coreProperties>
</file>